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1280160"/>
            <a:ext cx="10515600" cy="914400"/>
          </a:xfrm>
          <a:prstGeom prst="rect">
            <a:avLst/>
          </a:prstGeom>
          <a:noFill/>
        </p:spPr>
        <p:txBody>
          <a:bodyPr wrap="square">
            <a:spAutoFit/>
          </a:bodyPr>
          <a:lstStyle/>
          <a:p>
            <a:pPr algn="l"/>
            <a:r>
              <a:rPr sz="3400" b="1">
                <a:solidFill>
                  <a:srgbClr val="171717"/>
                </a:solidFill>
                <a:latin typeface="Inter"/>
              </a:rPr>
              <a:t>ReLEAF navigation map · the 27 places</a:t>
            </a:r>
          </a:p>
        </p:txBody>
      </p:sp>
      <p:sp>
        <p:nvSpPr>
          <p:cNvPr id="3" name="TextBox 2"/>
          <p:cNvSpPr txBox="1"/>
          <p:nvPr/>
        </p:nvSpPr>
        <p:spPr>
          <a:xfrm>
            <a:off x="731520" y="2468880"/>
            <a:ext cx="10515600" cy="3108960"/>
          </a:xfrm>
          <a:prstGeom prst="rect">
            <a:avLst/>
          </a:prstGeom>
          <a:noFill/>
        </p:spPr>
        <p:txBody>
          <a:bodyPr wrap="square">
            <a:spAutoFit/>
          </a:bodyPr>
          <a:lstStyle/>
          <a:p>
            <a:pPr algn="l"/>
            <a:r>
              <a:rPr sz="1600" b="0">
                <a:solidFill>
                  <a:srgbClr val="6B6B6B"/>
                </a:solidFill>
                <a:latin typeface="Inter"/>
              </a:rPr>
              <a:t>Every page of the wiki is a place in one painted valley. Each slide shows the current drawing on the left and an empty frame of exactly the same size on the right. Redraw the place in the right frame, in the style of the vision painting: flat shapes in two or three tones, no outlines, the sun high on the right (lit side right, shadow to the lower left), no words. Keep the thing standing on the dotted baseline and inside the frame; the frame is 1000 x 1000 and is exported as a transparent PNG at that size. The small label under each frame is the page the place stands for and what it must still be recognisable as.</a:t>
            </a:r>
          </a:p>
        </p:txBody>
      </p:sp>
      <p:sp>
        <p:nvSpPr>
          <p:cNvPr id="4" name="TextBox 3"/>
          <p:cNvSpPr txBox="1"/>
          <p:nvPr/>
        </p:nvSpPr>
        <p:spPr>
          <a:xfrm>
            <a:off x="731520" y="5852160"/>
            <a:ext cx="10058400" cy="457200"/>
          </a:xfrm>
          <a:prstGeom prst="rect">
            <a:avLst/>
          </a:prstGeom>
          <a:noFill/>
        </p:spPr>
        <p:txBody>
          <a:bodyPr wrap="square">
            <a:spAutoFit/>
          </a:bodyPr>
          <a:lstStyle/>
          <a:p>
            <a:pPr algn="l"/>
            <a:r>
              <a:rPr sz="1200" b="0">
                <a:solidFill>
                  <a:srgbClr val="6B6B6B"/>
                </a:solidFill>
                <a:latin typeface="Inter"/>
              </a:rPr>
              <a:t>github.com/Timmy97-TW/releaf-navmap · exports/manifest.json holds the canvas, baseline and footprint of every place.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320040"/>
            <a:ext cx="7315200" cy="365760"/>
          </a:xfrm>
          <a:prstGeom prst="rect">
            <a:avLst/>
          </a:prstGeom>
          <a:noFill/>
        </p:spPr>
        <p:txBody>
          <a:bodyPr wrap="square">
            <a:spAutoFit/>
          </a:bodyPr>
          <a:lstStyle/>
          <a:p>
            <a:pPr algn="l"/>
            <a:r>
              <a:rPr sz="1100" b="1">
                <a:solidFill>
                  <a:srgbClr val="A3375F"/>
                </a:solidFill>
                <a:latin typeface="Inter"/>
              </a:rPr>
              <a:t>PROJECT</a:t>
            </a:r>
          </a:p>
        </p:txBody>
      </p:sp>
      <p:sp>
        <p:nvSpPr>
          <p:cNvPr id="3" name="TextBox 2"/>
          <p:cNvSpPr txBox="1"/>
          <p:nvPr/>
        </p:nvSpPr>
        <p:spPr>
          <a:xfrm>
            <a:off x="822960" y="566928"/>
            <a:ext cx="7315200" cy="548640"/>
          </a:xfrm>
          <a:prstGeom prst="rect">
            <a:avLst/>
          </a:prstGeom>
          <a:noFill/>
        </p:spPr>
        <p:txBody>
          <a:bodyPr wrap="square">
            <a:spAutoFit/>
          </a:bodyPr>
          <a:lstStyle/>
          <a:p>
            <a:pPr algn="l"/>
            <a:r>
              <a:rPr sz="2600" b="1">
                <a:solidFill>
                  <a:srgbClr val="171717"/>
                </a:solidFill>
                <a:latin typeface="Inter"/>
              </a:rPr>
              <a:t>Description</a:t>
            </a:r>
          </a:p>
        </p:txBody>
      </p:sp>
      <p:sp>
        <p:nvSpPr>
          <p:cNvPr id="4" name="Rounded Rectangle 3"/>
          <p:cNvSpPr/>
          <p:nvPr/>
        </p:nvSpPr>
        <p:spPr>
          <a:xfrm>
            <a:off x="822960" y="1234440"/>
            <a:ext cx="4846320" cy="4846320"/>
          </a:xfrm>
          <a:prstGeom prst="roundRect">
            <a:avLst>
              <a:gd name="adj" fmla="val 3000"/>
            </a:avLst>
          </a:prstGeom>
          <a:noFill/>
          <a:ln w="12700">
            <a:solidFill>
              <a:srgbClr val="D4D4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description.png"/>
          <p:cNvPicPr>
            <a:picLocks noChangeAspect="1"/>
          </p:cNvPicPr>
          <p:nvPr/>
        </p:nvPicPr>
        <p:blipFill>
          <a:blip r:embed="rId2"/>
          <a:stretch>
            <a:fillRect/>
          </a:stretch>
        </p:blipFill>
        <p:spPr>
          <a:xfrm>
            <a:off x="822960" y="1234440"/>
            <a:ext cx="4846320" cy="4846320"/>
          </a:xfrm>
          <a:prstGeom prst="rect">
            <a:avLst/>
          </a:prstGeom>
        </p:spPr>
      </p:pic>
      <p:sp>
        <p:nvSpPr>
          <p:cNvPr id="6" name="TextBox 5"/>
          <p:cNvSpPr txBox="1"/>
          <p:nvPr/>
        </p:nvSpPr>
        <p:spPr>
          <a:xfrm>
            <a:off x="822960" y="6135624"/>
            <a:ext cx="4846320" cy="274320"/>
          </a:xfrm>
          <a:prstGeom prst="rect">
            <a:avLst/>
          </a:prstGeom>
          <a:noFill/>
        </p:spPr>
        <p:txBody>
          <a:bodyPr wrap="square">
            <a:spAutoFit/>
          </a:bodyPr>
          <a:lstStyle/>
          <a:p>
            <a:pPr algn="ctr"/>
            <a:r>
              <a:rPr sz="1100" b="0">
                <a:solidFill>
                  <a:srgbClr val="6B6B6B"/>
                </a:solidFill>
                <a:latin typeface="Inter"/>
              </a:rPr>
              <a:t>Current drawing · drawn in code, AI-assisted</a:t>
            </a:r>
          </a:p>
        </p:txBody>
      </p:sp>
      <p:cxnSp>
        <p:nvCxnSpPr>
          <p:cNvPr id="7" name="Connector 6"/>
          <p:cNvCxnSpPr/>
          <p:nvPr/>
        </p:nvCxnSpPr>
        <p:spPr>
          <a:xfrm>
            <a:off x="6095847" y="1143000"/>
            <a:ext cx="0" cy="5394960"/>
          </a:xfrm>
          <a:prstGeom prst="line">
            <a:avLst/>
          </a:prstGeom>
          <a:ln w="15875">
            <a:solidFill>
              <a:srgbClr val="D4D4D4"/>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522415" y="1234440"/>
            <a:ext cx="4846320" cy="4846320"/>
          </a:xfrm>
          <a:prstGeom prst="roundRect">
            <a:avLst>
              <a:gd name="adj" fmla="val 3000"/>
            </a:avLst>
          </a:prstGeom>
          <a:noFill/>
          <a:ln w="19050">
            <a:solidFill>
              <a:srgbClr val="D65A86"/>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 name="Connector 8"/>
          <p:cNvCxnSpPr/>
          <p:nvPr/>
        </p:nvCxnSpPr>
        <p:spPr>
          <a:xfrm>
            <a:off x="6796735" y="5789980"/>
            <a:ext cx="4297680" cy="0"/>
          </a:xfrm>
          <a:prstGeom prst="line">
            <a:avLst/>
          </a:prstGeom>
          <a:ln w="12700">
            <a:solidFill>
              <a:srgbClr val="D65A86"/>
            </a:solidFill>
            <a:prstDash val="lgDash"/>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522415" y="6135624"/>
            <a:ext cx="4846320" cy="274320"/>
          </a:xfrm>
          <a:prstGeom prst="rect">
            <a:avLst/>
          </a:prstGeom>
          <a:noFill/>
        </p:spPr>
        <p:txBody>
          <a:bodyPr wrap="square">
            <a:spAutoFit/>
          </a:bodyPr>
          <a:lstStyle/>
          <a:p>
            <a:pPr algn="ctr"/>
            <a:r>
              <a:rPr sz="1100" b="0">
                <a:solidFill>
                  <a:srgbClr val="A3375F"/>
                </a:solidFill>
                <a:latin typeface="Inter"/>
              </a:rPr>
              <a:t>Your drawing · same frame, same baseline, no words</a:t>
            </a:r>
          </a:p>
        </p:txBody>
      </p:sp>
      <p:sp>
        <p:nvSpPr>
          <p:cNvPr id="11" name="TextBox 10"/>
          <p:cNvSpPr txBox="1"/>
          <p:nvPr/>
        </p:nvSpPr>
        <p:spPr>
          <a:xfrm>
            <a:off x="822960" y="6473952"/>
            <a:ext cx="10515600" cy="320040"/>
          </a:xfrm>
          <a:prstGeom prst="rect">
            <a:avLst/>
          </a:prstGeom>
          <a:noFill/>
        </p:spPr>
        <p:txBody>
          <a:bodyPr wrap="square">
            <a:spAutoFit/>
          </a:bodyPr>
          <a:lstStyle/>
          <a:p>
            <a:pPr algn="l"/>
            <a:r>
              <a:rPr sz="1000" b="0">
                <a:solidFill>
                  <a:srgbClr val="6B6B6B"/>
                </a:solidFill>
                <a:latin typeface="Inter"/>
              </a:rPr>
              <a:t>/description/ · 1000 x 1000 px, transparent · export the right frame as PNG with the same name: description.png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320040"/>
            <a:ext cx="7315200" cy="365760"/>
          </a:xfrm>
          <a:prstGeom prst="rect">
            <a:avLst/>
          </a:prstGeom>
          <a:noFill/>
        </p:spPr>
        <p:txBody>
          <a:bodyPr wrap="square">
            <a:spAutoFit/>
          </a:bodyPr>
          <a:lstStyle/>
          <a:p>
            <a:pPr algn="l"/>
            <a:r>
              <a:rPr sz="1100" b="1">
                <a:solidFill>
                  <a:srgbClr val="A3375F"/>
                </a:solidFill>
                <a:latin typeface="Inter"/>
              </a:rPr>
              <a:t>PROJECT</a:t>
            </a:r>
          </a:p>
        </p:txBody>
      </p:sp>
      <p:sp>
        <p:nvSpPr>
          <p:cNvPr id="3" name="TextBox 2"/>
          <p:cNvSpPr txBox="1"/>
          <p:nvPr/>
        </p:nvSpPr>
        <p:spPr>
          <a:xfrm>
            <a:off x="822960" y="566928"/>
            <a:ext cx="7315200" cy="548640"/>
          </a:xfrm>
          <a:prstGeom prst="rect">
            <a:avLst/>
          </a:prstGeom>
          <a:noFill/>
        </p:spPr>
        <p:txBody>
          <a:bodyPr wrap="square">
            <a:spAutoFit/>
          </a:bodyPr>
          <a:lstStyle/>
          <a:p>
            <a:pPr algn="l"/>
            <a:r>
              <a:rPr sz="2600" b="1">
                <a:solidFill>
                  <a:srgbClr val="171717"/>
                </a:solidFill>
                <a:latin typeface="Inter"/>
              </a:rPr>
              <a:t>Biomanufacturing</a:t>
            </a:r>
          </a:p>
        </p:txBody>
      </p:sp>
      <p:sp>
        <p:nvSpPr>
          <p:cNvPr id="4" name="Rounded Rectangle 3"/>
          <p:cNvSpPr/>
          <p:nvPr/>
        </p:nvSpPr>
        <p:spPr>
          <a:xfrm>
            <a:off x="822960" y="1234440"/>
            <a:ext cx="4846320" cy="4846320"/>
          </a:xfrm>
          <a:prstGeom prst="roundRect">
            <a:avLst>
              <a:gd name="adj" fmla="val 3000"/>
            </a:avLst>
          </a:prstGeom>
          <a:noFill/>
          <a:ln w="12700">
            <a:solidFill>
              <a:srgbClr val="D4D4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biomanufacturing.png"/>
          <p:cNvPicPr>
            <a:picLocks noChangeAspect="1"/>
          </p:cNvPicPr>
          <p:nvPr/>
        </p:nvPicPr>
        <p:blipFill>
          <a:blip r:embed="rId2"/>
          <a:stretch>
            <a:fillRect/>
          </a:stretch>
        </p:blipFill>
        <p:spPr>
          <a:xfrm>
            <a:off x="822960" y="1234440"/>
            <a:ext cx="4846320" cy="4846320"/>
          </a:xfrm>
          <a:prstGeom prst="rect">
            <a:avLst/>
          </a:prstGeom>
        </p:spPr>
      </p:pic>
      <p:sp>
        <p:nvSpPr>
          <p:cNvPr id="6" name="TextBox 5"/>
          <p:cNvSpPr txBox="1"/>
          <p:nvPr/>
        </p:nvSpPr>
        <p:spPr>
          <a:xfrm>
            <a:off x="822960" y="6135624"/>
            <a:ext cx="4846320" cy="274320"/>
          </a:xfrm>
          <a:prstGeom prst="rect">
            <a:avLst/>
          </a:prstGeom>
          <a:noFill/>
        </p:spPr>
        <p:txBody>
          <a:bodyPr wrap="square">
            <a:spAutoFit/>
          </a:bodyPr>
          <a:lstStyle/>
          <a:p>
            <a:pPr algn="ctr"/>
            <a:r>
              <a:rPr sz="1100" b="0">
                <a:solidFill>
                  <a:srgbClr val="6B6B6B"/>
                </a:solidFill>
                <a:latin typeface="Inter"/>
              </a:rPr>
              <a:t>Current drawing · drawn in code, AI-assisted</a:t>
            </a:r>
          </a:p>
        </p:txBody>
      </p:sp>
      <p:cxnSp>
        <p:nvCxnSpPr>
          <p:cNvPr id="7" name="Connector 6"/>
          <p:cNvCxnSpPr/>
          <p:nvPr/>
        </p:nvCxnSpPr>
        <p:spPr>
          <a:xfrm>
            <a:off x="6095847" y="1143000"/>
            <a:ext cx="0" cy="5394960"/>
          </a:xfrm>
          <a:prstGeom prst="line">
            <a:avLst/>
          </a:prstGeom>
          <a:ln w="15875">
            <a:solidFill>
              <a:srgbClr val="D4D4D4"/>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522415" y="1234440"/>
            <a:ext cx="4846320" cy="4846320"/>
          </a:xfrm>
          <a:prstGeom prst="roundRect">
            <a:avLst>
              <a:gd name="adj" fmla="val 3000"/>
            </a:avLst>
          </a:prstGeom>
          <a:noFill/>
          <a:ln w="19050">
            <a:solidFill>
              <a:srgbClr val="D65A86"/>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 name="Connector 8"/>
          <p:cNvCxnSpPr/>
          <p:nvPr/>
        </p:nvCxnSpPr>
        <p:spPr>
          <a:xfrm>
            <a:off x="6796735" y="5789980"/>
            <a:ext cx="4297680" cy="0"/>
          </a:xfrm>
          <a:prstGeom prst="line">
            <a:avLst/>
          </a:prstGeom>
          <a:ln w="12700">
            <a:solidFill>
              <a:srgbClr val="D65A86"/>
            </a:solidFill>
            <a:prstDash val="lgDash"/>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522415" y="6135624"/>
            <a:ext cx="4846320" cy="274320"/>
          </a:xfrm>
          <a:prstGeom prst="rect">
            <a:avLst/>
          </a:prstGeom>
          <a:noFill/>
        </p:spPr>
        <p:txBody>
          <a:bodyPr wrap="square">
            <a:spAutoFit/>
          </a:bodyPr>
          <a:lstStyle/>
          <a:p>
            <a:pPr algn="ctr"/>
            <a:r>
              <a:rPr sz="1100" b="0">
                <a:solidFill>
                  <a:srgbClr val="A3375F"/>
                </a:solidFill>
                <a:latin typeface="Inter"/>
              </a:rPr>
              <a:t>Your drawing · same frame, same baseline, no words</a:t>
            </a:r>
          </a:p>
        </p:txBody>
      </p:sp>
      <p:sp>
        <p:nvSpPr>
          <p:cNvPr id="11" name="TextBox 10"/>
          <p:cNvSpPr txBox="1"/>
          <p:nvPr/>
        </p:nvSpPr>
        <p:spPr>
          <a:xfrm>
            <a:off x="822960" y="6473952"/>
            <a:ext cx="10515600" cy="320040"/>
          </a:xfrm>
          <a:prstGeom prst="rect">
            <a:avLst/>
          </a:prstGeom>
          <a:noFill/>
        </p:spPr>
        <p:txBody>
          <a:bodyPr wrap="square">
            <a:spAutoFit/>
          </a:bodyPr>
          <a:lstStyle/>
          <a:p>
            <a:pPr algn="l"/>
            <a:r>
              <a:rPr sz="1000" b="0">
                <a:solidFill>
                  <a:srgbClr val="6B6B6B"/>
                </a:solidFill>
                <a:latin typeface="Inter"/>
              </a:rPr>
              <a:t>/biomanufacturing/ · 1000 x 1000 px, transparent · export the right frame as PNG with the same name: biomanufacturing.png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320040"/>
            <a:ext cx="7315200" cy="365760"/>
          </a:xfrm>
          <a:prstGeom prst="rect">
            <a:avLst/>
          </a:prstGeom>
          <a:noFill/>
        </p:spPr>
        <p:txBody>
          <a:bodyPr wrap="square">
            <a:spAutoFit/>
          </a:bodyPr>
          <a:lstStyle/>
          <a:p>
            <a:pPr algn="l"/>
            <a:r>
              <a:rPr sz="1100" b="1">
                <a:solidFill>
                  <a:srgbClr val="A3375F"/>
                </a:solidFill>
                <a:latin typeface="Inter"/>
              </a:rPr>
              <a:t>PROJECT</a:t>
            </a:r>
          </a:p>
        </p:txBody>
      </p:sp>
      <p:sp>
        <p:nvSpPr>
          <p:cNvPr id="3" name="TextBox 2"/>
          <p:cNvSpPr txBox="1"/>
          <p:nvPr/>
        </p:nvSpPr>
        <p:spPr>
          <a:xfrm>
            <a:off x="822960" y="566928"/>
            <a:ext cx="7315200" cy="548640"/>
          </a:xfrm>
          <a:prstGeom prst="rect">
            <a:avLst/>
          </a:prstGeom>
          <a:noFill/>
        </p:spPr>
        <p:txBody>
          <a:bodyPr wrap="square">
            <a:spAutoFit/>
          </a:bodyPr>
          <a:lstStyle/>
          <a:p>
            <a:pPr algn="l"/>
            <a:r>
              <a:rPr sz="2600" b="1">
                <a:solidFill>
                  <a:srgbClr val="171717"/>
                </a:solidFill>
                <a:latin typeface="Inter"/>
              </a:rPr>
              <a:t>Engineering</a:t>
            </a:r>
          </a:p>
        </p:txBody>
      </p:sp>
      <p:sp>
        <p:nvSpPr>
          <p:cNvPr id="4" name="Rounded Rectangle 3"/>
          <p:cNvSpPr/>
          <p:nvPr/>
        </p:nvSpPr>
        <p:spPr>
          <a:xfrm>
            <a:off x="822960" y="1234440"/>
            <a:ext cx="4846320" cy="4846320"/>
          </a:xfrm>
          <a:prstGeom prst="roundRect">
            <a:avLst>
              <a:gd name="adj" fmla="val 3000"/>
            </a:avLst>
          </a:prstGeom>
          <a:noFill/>
          <a:ln w="12700">
            <a:solidFill>
              <a:srgbClr val="D4D4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engineering.png"/>
          <p:cNvPicPr>
            <a:picLocks noChangeAspect="1"/>
          </p:cNvPicPr>
          <p:nvPr/>
        </p:nvPicPr>
        <p:blipFill>
          <a:blip r:embed="rId2"/>
          <a:stretch>
            <a:fillRect/>
          </a:stretch>
        </p:blipFill>
        <p:spPr>
          <a:xfrm>
            <a:off x="822960" y="1234440"/>
            <a:ext cx="4846320" cy="4846320"/>
          </a:xfrm>
          <a:prstGeom prst="rect">
            <a:avLst/>
          </a:prstGeom>
        </p:spPr>
      </p:pic>
      <p:sp>
        <p:nvSpPr>
          <p:cNvPr id="6" name="TextBox 5"/>
          <p:cNvSpPr txBox="1"/>
          <p:nvPr/>
        </p:nvSpPr>
        <p:spPr>
          <a:xfrm>
            <a:off x="822960" y="6135624"/>
            <a:ext cx="4846320" cy="274320"/>
          </a:xfrm>
          <a:prstGeom prst="rect">
            <a:avLst/>
          </a:prstGeom>
          <a:noFill/>
        </p:spPr>
        <p:txBody>
          <a:bodyPr wrap="square">
            <a:spAutoFit/>
          </a:bodyPr>
          <a:lstStyle/>
          <a:p>
            <a:pPr algn="ctr"/>
            <a:r>
              <a:rPr sz="1100" b="0">
                <a:solidFill>
                  <a:srgbClr val="6B6B6B"/>
                </a:solidFill>
                <a:latin typeface="Inter"/>
              </a:rPr>
              <a:t>Current drawing · drawn in code, AI-assisted</a:t>
            </a:r>
          </a:p>
        </p:txBody>
      </p:sp>
      <p:cxnSp>
        <p:nvCxnSpPr>
          <p:cNvPr id="7" name="Connector 6"/>
          <p:cNvCxnSpPr/>
          <p:nvPr/>
        </p:nvCxnSpPr>
        <p:spPr>
          <a:xfrm>
            <a:off x="6095847" y="1143000"/>
            <a:ext cx="0" cy="5394960"/>
          </a:xfrm>
          <a:prstGeom prst="line">
            <a:avLst/>
          </a:prstGeom>
          <a:ln w="15875">
            <a:solidFill>
              <a:srgbClr val="D4D4D4"/>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522415" y="1234440"/>
            <a:ext cx="4846320" cy="4846320"/>
          </a:xfrm>
          <a:prstGeom prst="roundRect">
            <a:avLst>
              <a:gd name="adj" fmla="val 3000"/>
            </a:avLst>
          </a:prstGeom>
          <a:noFill/>
          <a:ln w="19050">
            <a:solidFill>
              <a:srgbClr val="D65A86"/>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 name="Connector 8"/>
          <p:cNvCxnSpPr/>
          <p:nvPr/>
        </p:nvCxnSpPr>
        <p:spPr>
          <a:xfrm>
            <a:off x="6796735" y="5789980"/>
            <a:ext cx="4297680" cy="0"/>
          </a:xfrm>
          <a:prstGeom prst="line">
            <a:avLst/>
          </a:prstGeom>
          <a:ln w="12700">
            <a:solidFill>
              <a:srgbClr val="D65A86"/>
            </a:solidFill>
            <a:prstDash val="lgDash"/>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522415" y="6135624"/>
            <a:ext cx="4846320" cy="274320"/>
          </a:xfrm>
          <a:prstGeom prst="rect">
            <a:avLst/>
          </a:prstGeom>
          <a:noFill/>
        </p:spPr>
        <p:txBody>
          <a:bodyPr wrap="square">
            <a:spAutoFit/>
          </a:bodyPr>
          <a:lstStyle/>
          <a:p>
            <a:pPr algn="ctr"/>
            <a:r>
              <a:rPr sz="1100" b="0">
                <a:solidFill>
                  <a:srgbClr val="A3375F"/>
                </a:solidFill>
                <a:latin typeface="Inter"/>
              </a:rPr>
              <a:t>Your drawing · same frame, same baseline, no words</a:t>
            </a:r>
          </a:p>
        </p:txBody>
      </p:sp>
      <p:sp>
        <p:nvSpPr>
          <p:cNvPr id="11" name="TextBox 10"/>
          <p:cNvSpPr txBox="1"/>
          <p:nvPr/>
        </p:nvSpPr>
        <p:spPr>
          <a:xfrm>
            <a:off x="822960" y="6473952"/>
            <a:ext cx="10515600" cy="320040"/>
          </a:xfrm>
          <a:prstGeom prst="rect">
            <a:avLst/>
          </a:prstGeom>
          <a:noFill/>
        </p:spPr>
        <p:txBody>
          <a:bodyPr wrap="square">
            <a:spAutoFit/>
          </a:bodyPr>
          <a:lstStyle/>
          <a:p>
            <a:pPr algn="l"/>
            <a:r>
              <a:rPr sz="1000" b="0">
                <a:solidFill>
                  <a:srgbClr val="6B6B6B"/>
                </a:solidFill>
                <a:latin typeface="Inter"/>
              </a:rPr>
              <a:t>/engineering/ · 1000 x 1000 px, transparent · export the right frame as PNG with the same name: engineering.png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320040"/>
            <a:ext cx="7315200" cy="365760"/>
          </a:xfrm>
          <a:prstGeom prst="rect">
            <a:avLst/>
          </a:prstGeom>
          <a:noFill/>
        </p:spPr>
        <p:txBody>
          <a:bodyPr wrap="square">
            <a:spAutoFit/>
          </a:bodyPr>
          <a:lstStyle/>
          <a:p>
            <a:pPr algn="l"/>
            <a:r>
              <a:rPr sz="1100" b="1">
                <a:solidFill>
                  <a:srgbClr val="A3375F"/>
                </a:solidFill>
                <a:latin typeface="Inter"/>
              </a:rPr>
              <a:t>PROJECT</a:t>
            </a:r>
          </a:p>
        </p:txBody>
      </p:sp>
      <p:sp>
        <p:nvSpPr>
          <p:cNvPr id="3" name="TextBox 2"/>
          <p:cNvSpPr txBox="1"/>
          <p:nvPr/>
        </p:nvSpPr>
        <p:spPr>
          <a:xfrm>
            <a:off x="822960" y="566928"/>
            <a:ext cx="7315200" cy="548640"/>
          </a:xfrm>
          <a:prstGeom prst="rect">
            <a:avLst/>
          </a:prstGeom>
          <a:noFill/>
        </p:spPr>
        <p:txBody>
          <a:bodyPr wrap="square">
            <a:spAutoFit/>
          </a:bodyPr>
          <a:lstStyle/>
          <a:p>
            <a:pPr algn="l"/>
            <a:r>
              <a:rPr sz="2600" b="1">
                <a:solidFill>
                  <a:srgbClr val="171717"/>
                </a:solidFill>
                <a:latin typeface="Inter"/>
              </a:rPr>
              <a:t>Development</a:t>
            </a:r>
          </a:p>
        </p:txBody>
      </p:sp>
      <p:sp>
        <p:nvSpPr>
          <p:cNvPr id="4" name="Rounded Rectangle 3"/>
          <p:cNvSpPr/>
          <p:nvPr/>
        </p:nvSpPr>
        <p:spPr>
          <a:xfrm>
            <a:off x="822960" y="1234440"/>
            <a:ext cx="4846320" cy="4846320"/>
          </a:xfrm>
          <a:prstGeom prst="roundRect">
            <a:avLst>
              <a:gd name="adj" fmla="val 3000"/>
            </a:avLst>
          </a:prstGeom>
          <a:noFill/>
          <a:ln w="12700">
            <a:solidFill>
              <a:srgbClr val="D4D4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development.png"/>
          <p:cNvPicPr>
            <a:picLocks noChangeAspect="1"/>
          </p:cNvPicPr>
          <p:nvPr/>
        </p:nvPicPr>
        <p:blipFill>
          <a:blip r:embed="rId2"/>
          <a:stretch>
            <a:fillRect/>
          </a:stretch>
        </p:blipFill>
        <p:spPr>
          <a:xfrm>
            <a:off x="822960" y="1234440"/>
            <a:ext cx="4846320" cy="4846320"/>
          </a:xfrm>
          <a:prstGeom prst="rect">
            <a:avLst/>
          </a:prstGeom>
        </p:spPr>
      </p:pic>
      <p:sp>
        <p:nvSpPr>
          <p:cNvPr id="6" name="TextBox 5"/>
          <p:cNvSpPr txBox="1"/>
          <p:nvPr/>
        </p:nvSpPr>
        <p:spPr>
          <a:xfrm>
            <a:off x="822960" y="6135624"/>
            <a:ext cx="4846320" cy="274320"/>
          </a:xfrm>
          <a:prstGeom prst="rect">
            <a:avLst/>
          </a:prstGeom>
          <a:noFill/>
        </p:spPr>
        <p:txBody>
          <a:bodyPr wrap="square">
            <a:spAutoFit/>
          </a:bodyPr>
          <a:lstStyle/>
          <a:p>
            <a:pPr algn="ctr"/>
            <a:r>
              <a:rPr sz="1100" b="0">
                <a:solidFill>
                  <a:srgbClr val="6B6B6B"/>
                </a:solidFill>
                <a:latin typeface="Inter"/>
              </a:rPr>
              <a:t>Current drawing · drawn in code, AI-assisted</a:t>
            </a:r>
          </a:p>
        </p:txBody>
      </p:sp>
      <p:cxnSp>
        <p:nvCxnSpPr>
          <p:cNvPr id="7" name="Connector 6"/>
          <p:cNvCxnSpPr/>
          <p:nvPr/>
        </p:nvCxnSpPr>
        <p:spPr>
          <a:xfrm>
            <a:off x="6095847" y="1143000"/>
            <a:ext cx="0" cy="5394960"/>
          </a:xfrm>
          <a:prstGeom prst="line">
            <a:avLst/>
          </a:prstGeom>
          <a:ln w="15875">
            <a:solidFill>
              <a:srgbClr val="D4D4D4"/>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522415" y="1234440"/>
            <a:ext cx="4846320" cy="4846320"/>
          </a:xfrm>
          <a:prstGeom prst="roundRect">
            <a:avLst>
              <a:gd name="adj" fmla="val 3000"/>
            </a:avLst>
          </a:prstGeom>
          <a:noFill/>
          <a:ln w="19050">
            <a:solidFill>
              <a:srgbClr val="D65A86"/>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 name="Connector 8"/>
          <p:cNvCxnSpPr/>
          <p:nvPr/>
        </p:nvCxnSpPr>
        <p:spPr>
          <a:xfrm>
            <a:off x="6796735" y="5789980"/>
            <a:ext cx="4297680" cy="0"/>
          </a:xfrm>
          <a:prstGeom prst="line">
            <a:avLst/>
          </a:prstGeom>
          <a:ln w="12700">
            <a:solidFill>
              <a:srgbClr val="D65A86"/>
            </a:solidFill>
            <a:prstDash val="lgDash"/>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522415" y="6135624"/>
            <a:ext cx="4846320" cy="274320"/>
          </a:xfrm>
          <a:prstGeom prst="rect">
            <a:avLst/>
          </a:prstGeom>
          <a:noFill/>
        </p:spPr>
        <p:txBody>
          <a:bodyPr wrap="square">
            <a:spAutoFit/>
          </a:bodyPr>
          <a:lstStyle/>
          <a:p>
            <a:pPr algn="ctr"/>
            <a:r>
              <a:rPr sz="1100" b="0">
                <a:solidFill>
                  <a:srgbClr val="A3375F"/>
                </a:solidFill>
                <a:latin typeface="Inter"/>
              </a:rPr>
              <a:t>Your drawing · same frame, same baseline, no words</a:t>
            </a:r>
          </a:p>
        </p:txBody>
      </p:sp>
      <p:sp>
        <p:nvSpPr>
          <p:cNvPr id="11" name="TextBox 10"/>
          <p:cNvSpPr txBox="1"/>
          <p:nvPr/>
        </p:nvSpPr>
        <p:spPr>
          <a:xfrm>
            <a:off x="822960" y="6473952"/>
            <a:ext cx="10515600" cy="320040"/>
          </a:xfrm>
          <a:prstGeom prst="rect">
            <a:avLst/>
          </a:prstGeom>
          <a:noFill/>
        </p:spPr>
        <p:txBody>
          <a:bodyPr wrap="square">
            <a:spAutoFit/>
          </a:bodyPr>
          <a:lstStyle/>
          <a:p>
            <a:pPr algn="l"/>
            <a:r>
              <a:rPr sz="1000" b="0">
                <a:solidFill>
                  <a:srgbClr val="6B6B6B"/>
                </a:solidFill>
                <a:latin typeface="Inter"/>
              </a:rPr>
              <a:t>/development/ · 1000 x 1000 px, transparent · export the right frame as PNG with the same name: development.png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320040"/>
            <a:ext cx="7315200" cy="365760"/>
          </a:xfrm>
          <a:prstGeom prst="rect">
            <a:avLst/>
          </a:prstGeom>
          <a:noFill/>
        </p:spPr>
        <p:txBody>
          <a:bodyPr wrap="square">
            <a:spAutoFit/>
          </a:bodyPr>
          <a:lstStyle/>
          <a:p>
            <a:pPr algn="l"/>
            <a:r>
              <a:rPr sz="1100" b="1">
                <a:solidFill>
                  <a:srgbClr val="A3375F"/>
                </a:solidFill>
                <a:latin typeface="Inter"/>
              </a:rPr>
              <a:t>PROJECT</a:t>
            </a:r>
          </a:p>
        </p:txBody>
      </p:sp>
      <p:sp>
        <p:nvSpPr>
          <p:cNvPr id="3" name="TextBox 2"/>
          <p:cNvSpPr txBox="1"/>
          <p:nvPr/>
        </p:nvSpPr>
        <p:spPr>
          <a:xfrm>
            <a:off x="822960" y="566928"/>
            <a:ext cx="7315200" cy="548640"/>
          </a:xfrm>
          <a:prstGeom prst="rect">
            <a:avLst/>
          </a:prstGeom>
          <a:noFill/>
        </p:spPr>
        <p:txBody>
          <a:bodyPr wrap="square">
            <a:spAutoFit/>
          </a:bodyPr>
          <a:lstStyle/>
          <a:p>
            <a:pPr algn="l"/>
            <a:r>
              <a:rPr sz="2600" b="1">
                <a:solidFill>
                  <a:srgbClr val="171717"/>
                </a:solidFill>
                <a:latin typeface="Inter"/>
              </a:rPr>
              <a:t>Contribution</a:t>
            </a:r>
          </a:p>
        </p:txBody>
      </p:sp>
      <p:sp>
        <p:nvSpPr>
          <p:cNvPr id="4" name="Rounded Rectangle 3"/>
          <p:cNvSpPr/>
          <p:nvPr/>
        </p:nvSpPr>
        <p:spPr>
          <a:xfrm>
            <a:off x="822960" y="1234440"/>
            <a:ext cx="4846320" cy="4846320"/>
          </a:xfrm>
          <a:prstGeom prst="roundRect">
            <a:avLst>
              <a:gd name="adj" fmla="val 3000"/>
            </a:avLst>
          </a:prstGeom>
          <a:noFill/>
          <a:ln w="12700">
            <a:solidFill>
              <a:srgbClr val="D4D4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contribution.png"/>
          <p:cNvPicPr>
            <a:picLocks noChangeAspect="1"/>
          </p:cNvPicPr>
          <p:nvPr/>
        </p:nvPicPr>
        <p:blipFill>
          <a:blip r:embed="rId2"/>
          <a:stretch>
            <a:fillRect/>
          </a:stretch>
        </p:blipFill>
        <p:spPr>
          <a:xfrm>
            <a:off x="822960" y="1234440"/>
            <a:ext cx="4846320" cy="4846320"/>
          </a:xfrm>
          <a:prstGeom prst="rect">
            <a:avLst/>
          </a:prstGeom>
        </p:spPr>
      </p:pic>
      <p:sp>
        <p:nvSpPr>
          <p:cNvPr id="6" name="TextBox 5"/>
          <p:cNvSpPr txBox="1"/>
          <p:nvPr/>
        </p:nvSpPr>
        <p:spPr>
          <a:xfrm>
            <a:off x="822960" y="6135624"/>
            <a:ext cx="4846320" cy="274320"/>
          </a:xfrm>
          <a:prstGeom prst="rect">
            <a:avLst/>
          </a:prstGeom>
          <a:noFill/>
        </p:spPr>
        <p:txBody>
          <a:bodyPr wrap="square">
            <a:spAutoFit/>
          </a:bodyPr>
          <a:lstStyle/>
          <a:p>
            <a:pPr algn="ctr"/>
            <a:r>
              <a:rPr sz="1100" b="0">
                <a:solidFill>
                  <a:srgbClr val="6B6B6B"/>
                </a:solidFill>
                <a:latin typeface="Inter"/>
              </a:rPr>
              <a:t>Current drawing · drawn in code, AI-assisted</a:t>
            </a:r>
          </a:p>
        </p:txBody>
      </p:sp>
      <p:cxnSp>
        <p:nvCxnSpPr>
          <p:cNvPr id="7" name="Connector 6"/>
          <p:cNvCxnSpPr/>
          <p:nvPr/>
        </p:nvCxnSpPr>
        <p:spPr>
          <a:xfrm>
            <a:off x="6095847" y="1143000"/>
            <a:ext cx="0" cy="5394960"/>
          </a:xfrm>
          <a:prstGeom prst="line">
            <a:avLst/>
          </a:prstGeom>
          <a:ln w="15875">
            <a:solidFill>
              <a:srgbClr val="D4D4D4"/>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522415" y="1234440"/>
            <a:ext cx="4846320" cy="4846320"/>
          </a:xfrm>
          <a:prstGeom prst="roundRect">
            <a:avLst>
              <a:gd name="adj" fmla="val 3000"/>
            </a:avLst>
          </a:prstGeom>
          <a:noFill/>
          <a:ln w="19050">
            <a:solidFill>
              <a:srgbClr val="D65A86"/>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 name="Connector 8"/>
          <p:cNvCxnSpPr/>
          <p:nvPr/>
        </p:nvCxnSpPr>
        <p:spPr>
          <a:xfrm>
            <a:off x="6796735" y="5789980"/>
            <a:ext cx="4297680" cy="0"/>
          </a:xfrm>
          <a:prstGeom prst="line">
            <a:avLst/>
          </a:prstGeom>
          <a:ln w="12700">
            <a:solidFill>
              <a:srgbClr val="D65A86"/>
            </a:solidFill>
            <a:prstDash val="lgDash"/>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522415" y="6135624"/>
            <a:ext cx="4846320" cy="274320"/>
          </a:xfrm>
          <a:prstGeom prst="rect">
            <a:avLst/>
          </a:prstGeom>
          <a:noFill/>
        </p:spPr>
        <p:txBody>
          <a:bodyPr wrap="square">
            <a:spAutoFit/>
          </a:bodyPr>
          <a:lstStyle/>
          <a:p>
            <a:pPr algn="ctr"/>
            <a:r>
              <a:rPr sz="1100" b="0">
                <a:solidFill>
                  <a:srgbClr val="A3375F"/>
                </a:solidFill>
                <a:latin typeface="Inter"/>
              </a:rPr>
              <a:t>Your drawing · same frame, same baseline, no words</a:t>
            </a:r>
          </a:p>
        </p:txBody>
      </p:sp>
      <p:sp>
        <p:nvSpPr>
          <p:cNvPr id="11" name="TextBox 10"/>
          <p:cNvSpPr txBox="1"/>
          <p:nvPr/>
        </p:nvSpPr>
        <p:spPr>
          <a:xfrm>
            <a:off x="822960" y="6473952"/>
            <a:ext cx="10515600" cy="320040"/>
          </a:xfrm>
          <a:prstGeom prst="rect">
            <a:avLst/>
          </a:prstGeom>
          <a:noFill/>
        </p:spPr>
        <p:txBody>
          <a:bodyPr wrap="square">
            <a:spAutoFit/>
          </a:bodyPr>
          <a:lstStyle/>
          <a:p>
            <a:pPr algn="l"/>
            <a:r>
              <a:rPr sz="1000" b="0">
                <a:solidFill>
                  <a:srgbClr val="6B6B6B"/>
                </a:solidFill>
                <a:latin typeface="Inter"/>
              </a:rPr>
              <a:t>/contribution/ · 1000 x 1000 px, transparent · export the right frame as PNG with the same name: contribution.png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320040"/>
            <a:ext cx="7315200" cy="365760"/>
          </a:xfrm>
          <a:prstGeom prst="rect">
            <a:avLst/>
          </a:prstGeom>
          <a:noFill/>
        </p:spPr>
        <p:txBody>
          <a:bodyPr wrap="square">
            <a:spAutoFit/>
          </a:bodyPr>
          <a:lstStyle/>
          <a:p>
            <a:pPr algn="l"/>
            <a:r>
              <a:rPr sz="1100" b="1">
                <a:solidFill>
                  <a:srgbClr val="A3375F"/>
                </a:solidFill>
                <a:latin typeface="Inter"/>
              </a:rPr>
              <a:t>PROJECT</a:t>
            </a:r>
          </a:p>
        </p:txBody>
      </p:sp>
      <p:sp>
        <p:nvSpPr>
          <p:cNvPr id="3" name="TextBox 2"/>
          <p:cNvSpPr txBox="1"/>
          <p:nvPr/>
        </p:nvSpPr>
        <p:spPr>
          <a:xfrm>
            <a:off x="822960" y="566928"/>
            <a:ext cx="7315200" cy="548640"/>
          </a:xfrm>
          <a:prstGeom prst="rect">
            <a:avLst/>
          </a:prstGeom>
          <a:noFill/>
        </p:spPr>
        <p:txBody>
          <a:bodyPr wrap="square">
            <a:spAutoFit/>
          </a:bodyPr>
          <a:lstStyle/>
          <a:p>
            <a:pPr algn="l"/>
            <a:r>
              <a:rPr sz="2600" b="1">
                <a:solidFill>
                  <a:srgbClr val="171717"/>
                </a:solidFill>
                <a:latin typeface="Inter"/>
              </a:rPr>
              <a:t>Results</a:t>
            </a:r>
          </a:p>
        </p:txBody>
      </p:sp>
      <p:sp>
        <p:nvSpPr>
          <p:cNvPr id="4" name="Rounded Rectangle 3"/>
          <p:cNvSpPr/>
          <p:nvPr/>
        </p:nvSpPr>
        <p:spPr>
          <a:xfrm>
            <a:off x="822960" y="1234440"/>
            <a:ext cx="4846320" cy="4846320"/>
          </a:xfrm>
          <a:prstGeom prst="roundRect">
            <a:avLst>
              <a:gd name="adj" fmla="val 3000"/>
            </a:avLst>
          </a:prstGeom>
          <a:noFill/>
          <a:ln w="12700">
            <a:solidFill>
              <a:srgbClr val="D4D4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results.png"/>
          <p:cNvPicPr>
            <a:picLocks noChangeAspect="1"/>
          </p:cNvPicPr>
          <p:nvPr/>
        </p:nvPicPr>
        <p:blipFill>
          <a:blip r:embed="rId2"/>
          <a:stretch>
            <a:fillRect/>
          </a:stretch>
        </p:blipFill>
        <p:spPr>
          <a:xfrm>
            <a:off x="822960" y="1234440"/>
            <a:ext cx="4846320" cy="4846320"/>
          </a:xfrm>
          <a:prstGeom prst="rect">
            <a:avLst/>
          </a:prstGeom>
        </p:spPr>
      </p:pic>
      <p:sp>
        <p:nvSpPr>
          <p:cNvPr id="6" name="TextBox 5"/>
          <p:cNvSpPr txBox="1"/>
          <p:nvPr/>
        </p:nvSpPr>
        <p:spPr>
          <a:xfrm>
            <a:off x="822960" y="6135624"/>
            <a:ext cx="4846320" cy="274320"/>
          </a:xfrm>
          <a:prstGeom prst="rect">
            <a:avLst/>
          </a:prstGeom>
          <a:noFill/>
        </p:spPr>
        <p:txBody>
          <a:bodyPr wrap="square">
            <a:spAutoFit/>
          </a:bodyPr>
          <a:lstStyle/>
          <a:p>
            <a:pPr algn="ctr"/>
            <a:r>
              <a:rPr sz="1100" b="0">
                <a:solidFill>
                  <a:srgbClr val="6B6B6B"/>
                </a:solidFill>
                <a:latin typeface="Inter"/>
              </a:rPr>
              <a:t>Current drawing · drawn in code, AI-assisted</a:t>
            </a:r>
          </a:p>
        </p:txBody>
      </p:sp>
      <p:cxnSp>
        <p:nvCxnSpPr>
          <p:cNvPr id="7" name="Connector 6"/>
          <p:cNvCxnSpPr/>
          <p:nvPr/>
        </p:nvCxnSpPr>
        <p:spPr>
          <a:xfrm>
            <a:off x="6095847" y="1143000"/>
            <a:ext cx="0" cy="5394960"/>
          </a:xfrm>
          <a:prstGeom prst="line">
            <a:avLst/>
          </a:prstGeom>
          <a:ln w="15875">
            <a:solidFill>
              <a:srgbClr val="D4D4D4"/>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522415" y="1234440"/>
            <a:ext cx="4846320" cy="4846320"/>
          </a:xfrm>
          <a:prstGeom prst="roundRect">
            <a:avLst>
              <a:gd name="adj" fmla="val 3000"/>
            </a:avLst>
          </a:prstGeom>
          <a:noFill/>
          <a:ln w="19050">
            <a:solidFill>
              <a:srgbClr val="D65A86"/>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 name="Connector 8"/>
          <p:cNvCxnSpPr/>
          <p:nvPr/>
        </p:nvCxnSpPr>
        <p:spPr>
          <a:xfrm>
            <a:off x="6796735" y="5789980"/>
            <a:ext cx="4297680" cy="0"/>
          </a:xfrm>
          <a:prstGeom prst="line">
            <a:avLst/>
          </a:prstGeom>
          <a:ln w="12700">
            <a:solidFill>
              <a:srgbClr val="D65A86"/>
            </a:solidFill>
            <a:prstDash val="lgDash"/>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522415" y="6135624"/>
            <a:ext cx="4846320" cy="274320"/>
          </a:xfrm>
          <a:prstGeom prst="rect">
            <a:avLst/>
          </a:prstGeom>
          <a:noFill/>
        </p:spPr>
        <p:txBody>
          <a:bodyPr wrap="square">
            <a:spAutoFit/>
          </a:bodyPr>
          <a:lstStyle/>
          <a:p>
            <a:pPr algn="ctr"/>
            <a:r>
              <a:rPr sz="1100" b="0">
                <a:solidFill>
                  <a:srgbClr val="A3375F"/>
                </a:solidFill>
                <a:latin typeface="Inter"/>
              </a:rPr>
              <a:t>Your drawing · same frame, same baseline, no words</a:t>
            </a:r>
          </a:p>
        </p:txBody>
      </p:sp>
      <p:sp>
        <p:nvSpPr>
          <p:cNvPr id="11" name="TextBox 10"/>
          <p:cNvSpPr txBox="1"/>
          <p:nvPr/>
        </p:nvSpPr>
        <p:spPr>
          <a:xfrm>
            <a:off x="822960" y="6473952"/>
            <a:ext cx="10515600" cy="320040"/>
          </a:xfrm>
          <a:prstGeom prst="rect">
            <a:avLst/>
          </a:prstGeom>
          <a:noFill/>
        </p:spPr>
        <p:txBody>
          <a:bodyPr wrap="square">
            <a:spAutoFit/>
          </a:bodyPr>
          <a:lstStyle/>
          <a:p>
            <a:pPr algn="l"/>
            <a:r>
              <a:rPr sz="1000" b="0">
                <a:solidFill>
                  <a:srgbClr val="6B6B6B"/>
                </a:solidFill>
                <a:latin typeface="Inter"/>
              </a:rPr>
              <a:t>/results/ · 1000 x 1000 px, transparent · export the right frame as PNG with the same name: results.png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320040"/>
            <a:ext cx="7315200" cy="365760"/>
          </a:xfrm>
          <a:prstGeom prst="rect">
            <a:avLst/>
          </a:prstGeom>
          <a:noFill/>
        </p:spPr>
        <p:txBody>
          <a:bodyPr wrap="square">
            <a:spAutoFit/>
          </a:bodyPr>
          <a:lstStyle/>
          <a:p>
            <a:pPr algn="l"/>
            <a:r>
              <a:rPr sz="1100" b="1">
                <a:solidFill>
                  <a:srgbClr val="3D6A4B"/>
                </a:solidFill>
                <a:latin typeface="Inter"/>
              </a:rPr>
              <a:t>WET LAB</a:t>
            </a:r>
          </a:p>
        </p:txBody>
      </p:sp>
      <p:sp>
        <p:nvSpPr>
          <p:cNvPr id="3" name="TextBox 2"/>
          <p:cNvSpPr txBox="1"/>
          <p:nvPr/>
        </p:nvSpPr>
        <p:spPr>
          <a:xfrm>
            <a:off x="822960" y="566928"/>
            <a:ext cx="7315200" cy="548640"/>
          </a:xfrm>
          <a:prstGeom prst="rect">
            <a:avLst/>
          </a:prstGeom>
          <a:noFill/>
        </p:spPr>
        <p:txBody>
          <a:bodyPr wrap="square">
            <a:spAutoFit/>
          </a:bodyPr>
          <a:lstStyle/>
          <a:p>
            <a:pPr algn="l"/>
            <a:r>
              <a:rPr sz="2600" b="1">
                <a:solidFill>
                  <a:srgbClr val="171717"/>
                </a:solidFill>
                <a:latin typeface="Inter"/>
              </a:rPr>
              <a:t>Experiments</a:t>
            </a:r>
          </a:p>
        </p:txBody>
      </p:sp>
      <p:sp>
        <p:nvSpPr>
          <p:cNvPr id="4" name="Rounded Rectangle 3"/>
          <p:cNvSpPr/>
          <p:nvPr/>
        </p:nvSpPr>
        <p:spPr>
          <a:xfrm>
            <a:off x="822960" y="1234440"/>
            <a:ext cx="4846320" cy="4846320"/>
          </a:xfrm>
          <a:prstGeom prst="roundRect">
            <a:avLst>
              <a:gd name="adj" fmla="val 3000"/>
            </a:avLst>
          </a:prstGeom>
          <a:noFill/>
          <a:ln w="12700">
            <a:solidFill>
              <a:srgbClr val="D4D4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experiments.png"/>
          <p:cNvPicPr>
            <a:picLocks noChangeAspect="1"/>
          </p:cNvPicPr>
          <p:nvPr/>
        </p:nvPicPr>
        <p:blipFill>
          <a:blip r:embed="rId2"/>
          <a:stretch>
            <a:fillRect/>
          </a:stretch>
        </p:blipFill>
        <p:spPr>
          <a:xfrm>
            <a:off x="822960" y="1234440"/>
            <a:ext cx="4846320" cy="4846320"/>
          </a:xfrm>
          <a:prstGeom prst="rect">
            <a:avLst/>
          </a:prstGeom>
        </p:spPr>
      </p:pic>
      <p:sp>
        <p:nvSpPr>
          <p:cNvPr id="6" name="TextBox 5"/>
          <p:cNvSpPr txBox="1"/>
          <p:nvPr/>
        </p:nvSpPr>
        <p:spPr>
          <a:xfrm>
            <a:off x="822960" y="6135624"/>
            <a:ext cx="4846320" cy="274320"/>
          </a:xfrm>
          <a:prstGeom prst="rect">
            <a:avLst/>
          </a:prstGeom>
          <a:noFill/>
        </p:spPr>
        <p:txBody>
          <a:bodyPr wrap="square">
            <a:spAutoFit/>
          </a:bodyPr>
          <a:lstStyle/>
          <a:p>
            <a:pPr algn="ctr"/>
            <a:r>
              <a:rPr sz="1100" b="0">
                <a:solidFill>
                  <a:srgbClr val="6B6B6B"/>
                </a:solidFill>
                <a:latin typeface="Inter"/>
              </a:rPr>
              <a:t>Current drawing · drawn in code, AI-assisted</a:t>
            </a:r>
          </a:p>
        </p:txBody>
      </p:sp>
      <p:cxnSp>
        <p:nvCxnSpPr>
          <p:cNvPr id="7" name="Connector 6"/>
          <p:cNvCxnSpPr/>
          <p:nvPr/>
        </p:nvCxnSpPr>
        <p:spPr>
          <a:xfrm>
            <a:off x="6095847" y="1143000"/>
            <a:ext cx="0" cy="5394960"/>
          </a:xfrm>
          <a:prstGeom prst="line">
            <a:avLst/>
          </a:prstGeom>
          <a:ln w="15875">
            <a:solidFill>
              <a:srgbClr val="D4D4D4"/>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522415" y="1234440"/>
            <a:ext cx="4846320" cy="4846320"/>
          </a:xfrm>
          <a:prstGeom prst="roundRect">
            <a:avLst>
              <a:gd name="adj" fmla="val 3000"/>
            </a:avLst>
          </a:prstGeom>
          <a:noFill/>
          <a:ln w="19050">
            <a:solidFill>
              <a:srgbClr val="4A7C59"/>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 name="Connector 8"/>
          <p:cNvCxnSpPr/>
          <p:nvPr/>
        </p:nvCxnSpPr>
        <p:spPr>
          <a:xfrm>
            <a:off x="6796735" y="5789980"/>
            <a:ext cx="4297680" cy="0"/>
          </a:xfrm>
          <a:prstGeom prst="line">
            <a:avLst/>
          </a:prstGeom>
          <a:ln w="12700">
            <a:solidFill>
              <a:srgbClr val="4A7C59"/>
            </a:solidFill>
            <a:prstDash val="lgDash"/>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522415" y="6135624"/>
            <a:ext cx="4846320" cy="274320"/>
          </a:xfrm>
          <a:prstGeom prst="rect">
            <a:avLst/>
          </a:prstGeom>
          <a:noFill/>
        </p:spPr>
        <p:txBody>
          <a:bodyPr wrap="square">
            <a:spAutoFit/>
          </a:bodyPr>
          <a:lstStyle/>
          <a:p>
            <a:pPr algn="ctr"/>
            <a:r>
              <a:rPr sz="1100" b="0">
                <a:solidFill>
                  <a:srgbClr val="3D6A4B"/>
                </a:solidFill>
                <a:latin typeface="Inter"/>
              </a:rPr>
              <a:t>Your drawing · same frame, same baseline, no words</a:t>
            </a:r>
          </a:p>
        </p:txBody>
      </p:sp>
      <p:sp>
        <p:nvSpPr>
          <p:cNvPr id="11" name="TextBox 10"/>
          <p:cNvSpPr txBox="1"/>
          <p:nvPr/>
        </p:nvSpPr>
        <p:spPr>
          <a:xfrm>
            <a:off x="822960" y="6473952"/>
            <a:ext cx="10515600" cy="320040"/>
          </a:xfrm>
          <a:prstGeom prst="rect">
            <a:avLst/>
          </a:prstGeom>
          <a:noFill/>
        </p:spPr>
        <p:txBody>
          <a:bodyPr wrap="square">
            <a:spAutoFit/>
          </a:bodyPr>
          <a:lstStyle/>
          <a:p>
            <a:pPr algn="l"/>
            <a:r>
              <a:rPr sz="1000" b="0">
                <a:solidFill>
                  <a:srgbClr val="6B6B6B"/>
                </a:solidFill>
                <a:latin typeface="Inter"/>
              </a:rPr>
              <a:t>/experiments/ · 1000 x 1000 px, transparent · export the right frame as PNG with the same name: experiments.png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320040"/>
            <a:ext cx="7315200" cy="365760"/>
          </a:xfrm>
          <a:prstGeom prst="rect">
            <a:avLst/>
          </a:prstGeom>
          <a:noFill/>
        </p:spPr>
        <p:txBody>
          <a:bodyPr wrap="square">
            <a:spAutoFit/>
          </a:bodyPr>
          <a:lstStyle/>
          <a:p>
            <a:pPr algn="l"/>
            <a:r>
              <a:rPr sz="1100" b="1">
                <a:solidFill>
                  <a:srgbClr val="3D6A4B"/>
                </a:solidFill>
                <a:latin typeface="Inter"/>
              </a:rPr>
              <a:t>WET LAB</a:t>
            </a:r>
          </a:p>
        </p:txBody>
      </p:sp>
      <p:sp>
        <p:nvSpPr>
          <p:cNvPr id="3" name="TextBox 2"/>
          <p:cNvSpPr txBox="1"/>
          <p:nvPr/>
        </p:nvSpPr>
        <p:spPr>
          <a:xfrm>
            <a:off x="822960" y="566928"/>
            <a:ext cx="7315200" cy="548640"/>
          </a:xfrm>
          <a:prstGeom prst="rect">
            <a:avLst/>
          </a:prstGeom>
          <a:noFill/>
        </p:spPr>
        <p:txBody>
          <a:bodyPr wrap="square">
            <a:spAutoFit/>
          </a:bodyPr>
          <a:lstStyle/>
          <a:p>
            <a:pPr algn="l"/>
            <a:r>
              <a:rPr sz="2600" b="1">
                <a:solidFill>
                  <a:srgbClr val="171717"/>
                </a:solidFill>
                <a:latin typeface="Inter"/>
              </a:rPr>
              <a:t>Parts</a:t>
            </a:r>
          </a:p>
        </p:txBody>
      </p:sp>
      <p:sp>
        <p:nvSpPr>
          <p:cNvPr id="4" name="Rounded Rectangle 3"/>
          <p:cNvSpPr/>
          <p:nvPr/>
        </p:nvSpPr>
        <p:spPr>
          <a:xfrm>
            <a:off x="822960" y="1234440"/>
            <a:ext cx="4846320" cy="4846320"/>
          </a:xfrm>
          <a:prstGeom prst="roundRect">
            <a:avLst>
              <a:gd name="adj" fmla="val 3000"/>
            </a:avLst>
          </a:prstGeom>
          <a:noFill/>
          <a:ln w="12700">
            <a:solidFill>
              <a:srgbClr val="D4D4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parts.png"/>
          <p:cNvPicPr>
            <a:picLocks noChangeAspect="1"/>
          </p:cNvPicPr>
          <p:nvPr/>
        </p:nvPicPr>
        <p:blipFill>
          <a:blip r:embed="rId2"/>
          <a:stretch>
            <a:fillRect/>
          </a:stretch>
        </p:blipFill>
        <p:spPr>
          <a:xfrm>
            <a:off x="822960" y="1234440"/>
            <a:ext cx="4846320" cy="4846320"/>
          </a:xfrm>
          <a:prstGeom prst="rect">
            <a:avLst/>
          </a:prstGeom>
        </p:spPr>
      </p:pic>
      <p:sp>
        <p:nvSpPr>
          <p:cNvPr id="6" name="TextBox 5"/>
          <p:cNvSpPr txBox="1"/>
          <p:nvPr/>
        </p:nvSpPr>
        <p:spPr>
          <a:xfrm>
            <a:off x="822960" y="6135624"/>
            <a:ext cx="4846320" cy="274320"/>
          </a:xfrm>
          <a:prstGeom prst="rect">
            <a:avLst/>
          </a:prstGeom>
          <a:noFill/>
        </p:spPr>
        <p:txBody>
          <a:bodyPr wrap="square">
            <a:spAutoFit/>
          </a:bodyPr>
          <a:lstStyle/>
          <a:p>
            <a:pPr algn="ctr"/>
            <a:r>
              <a:rPr sz="1100" b="0">
                <a:solidFill>
                  <a:srgbClr val="6B6B6B"/>
                </a:solidFill>
                <a:latin typeface="Inter"/>
              </a:rPr>
              <a:t>Current drawing · drawn in code, AI-assisted</a:t>
            </a:r>
          </a:p>
        </p:txBody>
      </p:sp>
      <p:cxnSp>
        <p:nvCxnSpPr>
          <p:cNvPr id="7" name="Connector 6"/>
          <p:cNvCxnSpPr/>
          <p:nvPr/>
        </p:nvCxnSpPr>
        <p:spPr>
          <a:xfrm>
            <a:off x="6095847" y="1143000"/>
            <a:ext cx="0" cy="5394960"/>
          </a:xfrm>
          <a:prstGeom prst="line">
            <a:avLst/>
          </a:prstGeom>
          <a:ln w="15875">
            <a:solidFill>
              <a:srgbClr val="D4D4D4"/>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522415" y="1234440"/>
            <a:ext cx="4846320" cy="4846320"/>
          </a:xfrm>
          <a:prstGeom prst="roundRect">
            <a:avLst>
              <a:gd name="adj" fmla="val 3000"/>
            </a:avLst>
          </a:prstGeom>
          <a:noFill/>
          <a:ln w="19050">
            <a:solidFill>
              <a:srgbClr val="4A7C59"/>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 name="Connector 8"/>
          <p:cNvCxnSpPr/>
          <p:nvPr/>
        </p:nvCxnSpPr>
        <p:spPr>
          <a:xfrm>
            <a:off x="6796735" y="5789980"/>
            <a:ext cx="4297680" cy="0"/>
          </a:xfrm>
          <a:prstGeom prst="line">
            <a:avLst/>
          </a:prstGeom>
          <a:ln w="12700">
            <a:solidFill>
              <a:srgbClr val="4A7C59"/>
            </a:solidFill>
            <a:prstDash val="lgDash"/>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522415" y="6135624"/>
            <a:ext cx="4846320" cy="274320"/>
          </a:xfrm>
          <a:prstGeom prst="rect">
            <a:avLst/>
          </a:prstGeom>
          <a:noFill/>
        </p:spPr>
        <p:txBody>
          <a:bodyPr wrap="square">
            <a:spAutoFit/>
          </a:bodyPr>
          <a:lstStyle/>
          <a:p>
            <a:pPr algn="ctr"/>
            <a:r>
              <a:rPr sz="1100" b="0">
                <a:solidFill>
                  <a:srgbClr val="3D6A4B"/>
                </a:solidFill>
                <a:latin typeface="Inter"/>
              </a:rPr>
              <a:t>Your drawing · same frame, same baseline, no words</a:t>
            </a:r>
          </a:p>
        </p:txBody>
      </p:sp>
      <p:sp>
        <p:nvSpPr>
          <p:cNvPr id="11" name="TextBox 10"/>
          <p:cNvSpPr txBox="1"/>
          <p:nvPr/>
        </p:nvSpPr>
        <p:spPr>
          <a:xfrm>
            <a:off x="822960" y="6473952"/>
            <a:ext cx="10515600" cy="320040"/>
          </a:xfrm>
          <a:prstGeom prst="rect">
            <a:avLst/>
          </a:prstGeom>
          <a:noFill/>
        </p:spPr>
        <p:txBody>
          <a:bodyPr wrap="square">
            <a:spAutoFit/>
          </a:bodyPr>
          <a:lstStyle/>
          <a:p>
            <a:pPr algn="l"/>
            <a:r>
              <a:rPr sz="1000" b="0">
                <a:solidFill>
                  <a:srgbClr val="6B6B6B"/>
                </a:solidFill>
                <a:latin typeface="Inter"/>
              </a:rPr>
              <a:t>/parts/ · 1000 x 1000 px, transparent · export the right frame as PNG with the same name: parts.png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320040"/>
            <a:ext cx="7315200" cy="365760"/>
          </a:xfrm>
          <a:prstGeom prst="rect">
            <a:avLst/>
          </a:prstGeom>
          <a:noFill/>
        </p:spPr>
        <p:txBody>
          <a:bodyPr wrap="square">
            <a:spAutoFit/>
          </a:bodyPr>
          <a:lstStyle/>
          <a:p>
            <a:pPr algn="l"/>
            <a:r>
              <a:rPr sz="1100" b="1">
                <a:solidFill>
                  <a:srgbClr val="3D6A4B"/>
                </a:solidFill>
                <a:latin typeface="Inter"/>
              </a:rPr>
              <a:t>WET LAB</a:t>
            </a:r>
          </a:p>
        </p:txBody>
      </p:sp>
      <p:sp>
        <p:nvSpPr>
          <p:cNvPr id="3" name="TextBox 2"/>
          <p:cNvSpPr txBox="1"/>
          <p:nvPr/>
        </p:nvSpPr>
        <p:spPr>
          <a:xfrm>
            <a:off x="822960" y="566928"/>
            <a:ext cx="7315200" cy="548640"/>
          </a:xfrm>
          <a:prstGeom prst="rect">
            <a:avLst/>
          </a:prstGeom>
          <a:noFill/>
        </p:spPr>
        <p:txBody>
          <a:bodyPr wrap="square">
            <a:spAutoFit/>
          </a:bodyPr>
          <a:lstStyle/>
          <a:p>
            <a:pPr algn="l"/>
            <a:r>
              <a:rPr sz="2600" b="1">
                <a:solidFill>
                  <a:srgbClr val="171717"/>
                </a:solidFill>
                <a:latin typeface="Inter"/>
              </a:rPr>
              <a:t>Plants</a:t>
            </a:r>
          </a:p>
        </p:txBody>
      </p:sp>
      <p:sp>
        <p:nvSpPr>
          <p:cNvPr id="4" name="Rounded Rectangle 3"/>
          <p:cNvSpPr/>
          <p:nvPr/>
        </p:nvSpPr>
        <p:spPr>
          <a:xfrm>
            <a:off x="822960" y="1234440"/>
            <a:ext cx="4846320" cy="4846320"/>
          </a:xfrm>
          <a:prstGeom prst="roundRect">
            <a:avLst>
              <a:gd name="adj" fmla="val 3000"/>
            </a:avLst>
          </a:prstGeom>
          <a:noFill/>
          <a:ln w="12700">
            <a:solidFill>
              <a:srgbClr val="D4D4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plant.png"/>
          <p:cNvPicPr>
            <a:picLocks noChangeAspect="1"/>
          </p:cNvPicPr>
          <p:nvPr/>
        </p:nvPicPr>
        <p:blipFill>
          <a:blip r:embed="rId2"/>
          <a:stretch>
            <a:fillRect/>
          </a:stretch>
        </p:blipFill>
        <p:spPr>
          <a:xfrm>
            <a:off x="822960" y="1234440"/>
            <a:ext cx="4846320" cy="4846320"/>
          </a:xfrm>
          <a:prstGeom prst="rect">
            <a:avLst/>
          </a:prstGeom>
        </p:spPr>
      </p:pic>
      <p:sp>
        <p:nvSpPr>
          <p:cNvPr id="6" name="TextBox 5"/>
          <p:cNvSpPr txBox="1"/>
          <p:nvPr/>
        </p:nvSpPr>
        <p:spPr>
          <a:xfrm>
            <a:off x="822960" y="6135624"/>
            <a:ext cx="4846320" cy="274320"/>
          </a:xfrm>
          <a:prstGeom prst="rect">
            <a:avLst/>
          </a:prstGeom>
          <a:noFill/>
        </p:spPr>
        <p:txBody>
          <a:bodyPr wrap="square">
            <a:spAutoFit/>
          </a:bodyPr>
          <a:lstStyle/>
          <a:p>
            <a:pPr algn="ctr"/>
            <a:r>
              <a:rPr sz="1100" b="0">
                <a:solidFill>
                  <a:srgbClr val="6B6B6B"/>
                </a:solidFill>
                <a:latin typeface="Inter"/>
              </a:rPr>
              <a:t>Current drawing · drawn in code, AI-assisted</a:t>
            </a:r>
          </a:p>
        </p:txBody>
      </p:sp>
      <p:cxnSp>
        <p:nvCxnSpPr>
          <p:cNvPr id="7" name="Connector 6"/>
          <p:cNvCxnSpPr/>
          <p:nvPr/>
        </p:nvCxnSpPr>
        <p:spPr>
          <a:xfrm>
            <a:off x="6095847" y="1143000"/>
            <a:ext cx="0" cy="5394960"/>
          </a:xfrm>
          <a:prstGeom prst="line">
            <a:avLst/>
          </a:prstGeom>
          <a:ln w="15875">
            <a:solidFill>
              <a:srgbClr val="D4D4D4"/>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522415" y="1234440"/>
            <a:ext cx="4846320" cy="4846320"/>
          </a:xfrm>
          <a:prstGeom prst="roundRect">
            <a:avLst>
              <a:gd name="adj" fmla="val 3000"/>
            </a:avLst>
          </a:prstGeom>
          <a:noFill/>
          <a:ln w="19050">
            <a:solidFill>
              <a:srgbClr val="4A7C59"/>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 name="Connector 8"/>
          <p:cNvCxnSpPr/>
          <p:nvPr/>
        </p:nvCxnSpPr>
        <p:spPr>
          <a:xfrm>
            <a:off x="6796735" y="5789980"/>
            <a:ext cx="4297680" cy="0"/>
          </a:xfrm>
          <a:prstGeom prst="line">
            <a:avLst/>
          </a:prstGeom>
          <a:ln w="12700">
            <a:solidFill>
              <a:srgbClr val="4A7C59"/>
            </a:solidFill>
            <a:prstDash val="lgDash"/>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522415" y="6135624"/>
            <a:ext cx="4846320" cy="274320"/>
          </a:xfrm>
          <a:prstGeom prst="rect">
            <a:avLst/>
          </a:prstGeom>
          <a:noFill/>
        </p:spPr>
        <p:txBody>
          <a:bodyPr wrap="square">
            <a:spAutoFit/>
          </a:bodyPr>
          <a:lstStyle/>
          <a:p>
            <a:pPr algn="ctr"/>
            <a:r>
              <a:rPr sz="1100" b="0">
                <a:solidFill>
                  <a:srgbClr val="3D6A4B"/>
                </a:solidFill>
                <a:latin typeface="Inter"/>
              </a:rPr>
              <a:t>Your drawing · same frame, same baseline, no words</a:t>
            </a:r>
          </a:p>
        </p:txBody>
      </p:sp>
      <p:sp>
        <p:nvSpPr>
          <p:cNvPr id="11" name="TextBox 10"/>
          <p:cNvSpPr txBox="1"/>
          <p:nvPr/>
        </p:nvSpPr>
        <p:spPr>
          <a:xfrm>
            <a:off x="822960" y="6473952"/>
            <a:ext cx="10515600" cy="320040"/>
          </a:xfrm>
          <a:prstGeom prst="rect">
            <a:avLst/>
          </a:prstGeom>
          <a:noFill/>
        </p:spPr>
        <p:txBody>
          <a:bodyPr wrap="square">
            <a:spAutoFit/>
          </a:bodyPr>
          <a:lstStyle/>
          <a:p>
            <a:pPr algn="l"/>
            <a:r>
              <a:rPr sz="1000" b="0">
                <a:solidFill>
                  <a:srgbClr val="6B6B6B"/>
                </a:solidFill>
                <a:latin typeface="Inter"/>
              </a:rPr>
              <a:t>/plant/ · 1000 x 1000 px, transparent · export the right frame as PNG with the same name: plant.png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320040"/>
            <a:ext cx="7315200" cy="365760"/>
          </a:xfrm>
          <a:prstGeom prst="rect">
            <a:avLst/>
          </a:prstGeom>
          <a:noFill/>
        </p:spPr>
        <p:txBody>
          <a:bodyPr wrap="square">
            <a:spAutoFit/>
          </a:bodyPr>
          <a:lstStyle/>
          <a:p>
            <a:pPr algn="l"/>
            <a:r>
              <a:rPr sz="1100" b="1">
                <a:solidFill>
                  <a:srgbClr val="3D6A4B"/>
                </a:solidFill>
                <a:latin typeface="Inter"/>
              </a:rPr>
              <a:t>WET LAB</a:t>
            </a:r>
          </a:p>
        </p:txBody>
      </p:sp>
      <p:sp>
        <p:nvSpPr>
          <p:cNvPr id="3" name="TextBox 2"/>
          <p:cNvSpPr txBox="1"/>
          <p:nvPr/>
        </p:nvSpPr>
        <p:spPr>
          <a:xfrm>
            <a:off x="822960" y="566928"/>
            <a:ext cx="7315200" cy="548640"/>
          </a:xfrm>
          <a:prstGeom prst="rect">
            <a:avLst/>
          </a:prstGeom>
          <a:noFill/>
        </p:spPr>
        <p:txBody>
          <a:bodyPr wrap="square">
            <a:spAutoFit/>
          </a:bodyPr>
          <a:lstStyle/>
          <a:p>
            <a:pPr algn="l"/>
            <a:r>
              <a:rPr sz="2600" b="1">
                <a:solidFill>
                  <a:srgbClr val="171717"/>
                </a:solidFill>
                <a:latin typeface="Inter"/>
              </a:rPr>
              <a:t>Measurement</a:t>
            </a:r>
          </a:p>
        </p:txBody>
      </p:sp>
      <p:sp>
        <p:nvSpPr>
          <p:cNvPr id="4" name="Rounded Rectangle 3"/>
          <p:cNvSpPr/>
          <p:nvPr/>
        </p:nvSpPr>
        <p:spPr>
          <a:xfrm>
            <a:off x="822960" y="1234440"/>
            <a:ext cx="4846320" cy="4846320"/>
          </a:xfrm>
          <a:prstGeom prst="roundRect">
            <a:avLst>
              <a:gd name="adj" fmla="val 3000"/>
            </a:avLst>
          </a:prstGeom>
          <a:noFill/>
          <a:ln w="12700">
            <a:solidFill>
              <a:srgbClr val="D4D4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measurement.png"/>
          <p:cNvPicPr>
            <a:picLocks noChangeAspect="1"/>
          </p:cNvPicPr>
          <p:nvPr/>
        </p:nvPicPr>
        <p:blipFill>
          <a:blip r:embed="rId2"/>
          <a:stretch>
            <a:fillRect/>
          </a:stretch>
        </p:blipFill>
        <p:spPr>
          <a:xfrm>
            <a:off x="822960" y="1234440"/>
            <a:ext cx="4846320" cy="4846320"/>
          </a:xfrm>
          <a:prstGeom prst="rect">
            <a:avLst/>
          </a:prstGeom>
        </p:spPr>
      </p:pic>
      <p:sp>
        <p:nvSpPr>
          <p:cNvPr id="6" name="TextBox 5"/>
          <p:cNvSpPr txBox="1"/>
          <p:nvPr/>
        </p:nvSpPr>
        <p:spPr>
          <a:xfrm>
            <a:off x="822960" y="6135624"/>
            <a:ext cx="4846320" cy="274320"/>
          </a:xfrm>
          <a:prstGeom prst="rect">
            <a:avLst/>
          </a:prstGeom>
          <a:noFill/>
        </p:spPr>
        <p:txBody>
          <a:bodyPr wrap="square">
            <a:spAutoFit/>
          </a:bodyPr>
          <a:lstStyle/>
          <a:p>
            <a:pPr algn="ctr"/>
            <a:r>
              <a:rPr sz="1100" b="0">
                <a:solidFill>
                  <a:srgbClr val="6B6B6B"/>
                </a:solidFill>
                <a:latin typeface="Inter"/>
              </a:rPr>
              <a:t>Current drawing · drawn in code, AI-assisted</a:t>
            </a:r>
          </a:p>
        </p:txBody>
      </p:sp>
      <p:cxnSp>
        <p:nvCxnSpPr>
          <p:cNvPr id="7" name="Connector 6"/>
          <p:cNvCxnSpPr/>
          <p:nvPr/>
        </p:nvCxnSpPr>
        <p:spPr>
          <a:xfrm>
            <a:off x="6095847" y="1143000"/>
            <a:ext cx="0" cy="5394960"/>
          </a:xfrm>
          <a:prstGeom prst="line">
            <a:avLst/>
          </a:prstGeom>
          <a:ln w="15875">
            <a:solidFill>
              <a:srgbClr val="D4D4D4"/>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522415" y="1234440"/>
            <a:ext cx="4846320" cy="4846320"/>
          </a:xfrm>
          <a:prstGeom prst="roundRect">
            <a:avLst>
              <a:gd name="adj" fmla="val 3000"/>
            </a:avLst>
          </a:prstGeom>
          <a:noFill/>
          <a:ln w="19050">
            <a:solidFill>
              <a:srgbClr val="4A7C59"/>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 name="Connector 8"/>
          <p:cNvCxnSpPr/>
          <p:nvPr/>
        </p:nvCxnSpPr>
        <p:spPr>
          <a:xfrm>
            <a:off x="6796735" y="5789980"/>
            <a:ext cx="4297680" cy="0"/>
          </a:xfrm>
          <a:prstGeom prst="line">
            <a:avLst/>
          </a:prstGeom>
          <a:ln w="12700">
            <a:solidFill>
              <a:srgbClr val="4A7C59"/>
            </a:solidFill>
            <a:prstDash val="lgDash"/>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522415" y="6135624"/>
            <a:ext cx="4846320" cy="274320"/>
          </a:xfrm>
          <a:prstGeom prst="rect">
            <a:avLst/>
          </a:prstGeom>
          <a:noFill/>
        </p:spPr>
        <p:txBody>
          <a:bodyPr wrap="square">
            <a:spAutoFit/>
          </a:bodyPr>
          <a:lstStyle/>
          <a:p>
            <a:pPr algn="ctr"/>
            <a:r>
              <a:rPr sz="1100" b="0">
                <a:solidFill>
                  <a:srgbClr val="3D6A4B"/>
                </a:solidFill>
                <a:latin typeface="Inter"/>
              </a:rPr>
              <a:t>Your drawing · same frame, same baseline, no words</a:t>
            </a:r>
          </a:p>
        </p:txBody>
      </p:sp>
      <p:sp>
        <p:nvSpPr>
          <p:cNvPr id="11" name="TextBox 10"/>
          <p:cNvSpPr txBox="1"/>
          <p:nvPr/>
        </p:nvSpPr>
        <p:spPr>
          <a:xfrm>
            <a:off x="822960" y="6473952"/>
            <a:ext cx="10515600" cy="320040"/>
          </a:xfrm>
          <a:prstGeom prst="rect">
            <a:avLst/>
          </a:prstGeom>
          <a:noFill/>
        </p:spPr>
        <p:txBody>
          <a:bodyPr wrap="square">
            <a:spAutoFit/>
          </a:bodyPr>
          <a:lstStyle/>
          <a:p>
            <a:pPr algn="l"/>
            <a:r>
              <a:rPr sz="1000" b="0">
                <a:solidFill>
                  <a:srgbClr val="6B6B6B"/>
                </a:solidFill>
                <a:latin typeface="Inter"/>
              </a:rPr>
              <a:t>/measurement/ · 1000 x 1000 px, transparent · export the right frame as PNG with the same name: measurement.png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320040"/>
            <a:ext cx="7315200" cy="365760"/>
          </a:xfrm>
          <a:prstGeom prst="rect">
            <a:avLst/>
          </a:prstGeom>
          <a:noFill/>
        </p:spPr>
        <p:txBody>
          <a:bodyPr wrap="square">
            <a:spAutoFit/>
          </a:bodyPr>
          <a:lstStyle/>
          <a:p>
            <a:pPr algn="l"/>
            <a:r>
              <a:rPr sz="1100" b="1">
                <a:solidFill>
                  <a:srgbClr val="3D6A4B"/>
                </a:solidFill>
                <a:latin typeface="Inter"/>
              </a:rPr>
              <a:t>WET LAB</a:t>
            </a:r>
          </a:p>
        </p:txBody>
      </p:sp>
      <p:sp>
        <p:nvSpPr>
          <p:cNvPr id="3" name="TextBox 2"/>
          <p:cNvSpPr txBox="1"/>
          <p:nvPr/>
        </p:nvSpPr>
        <p:spPr>
          <a:xfrm>
            <a:off x="822960" y="566928"/>
            <a:ext cx="7315200" cy="548640"/>
          </a:xfrm>
          <a:prstGeom prst="rect">
            <a:avLst/>
          </a:prstGeom>
          <a:noFill/>
        </p:spPr>
        <p:txBody>
          <a:bodyPr wrap="square">
            <a:spAutoFit/>
          </a:bodyPr>
          <a:lstStyle/>
          <a:p>
            <a:pPr algn="l"/>
            <a:r>
              <a:rPr sz="2600" b="1">
                <a:solidFill>
                  <a:srgbClr val="171717"/>
                </a:solidFill>
                <a:latin typeface="Inter"/>
              </a:rPr>
              <a:t>Safety</a:t>
            </a:r>
          </a:p>
        </p:txBody>
      </p:sp>
      <p:sp>
        <p:nvSpPr>
          <p:cNvPr id="4" name="Rounded Rectangle 3"/>
          <p:cNvSpPr/>
          <p:nvPr/>
        </p:nvSpPr>
        <p:spPr>
          <a:xfrm>
            <a:off x="822960" y="1234440"/>
            <a:ext cx="4846320" cy="4846320"/>
          </a:xfrm>
          <a:prstGeom prst="roundRect">
            <a:avLst>
              <a:gd name="adj" fmla="val 3000"/>
            </a:avLst>
          </a:prstGeom>
          <a:noFill/>
          <a:ln w="12700">
            <a:solidFill>
              <a:srgbClr val="D4D4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afety-and-security.png"/>
          <p:cNvPicPr>
            <a:picLocks noChangeAspect="1"/>
          </p:cNvPicPr>
          <p:nvPr/>
        </p:nvPicPr>
        <p:blipFill>
          <a:blip r:embed="rId2"/>
          <a:stretch>
            <a:fillRect/>
          </a:stretch>
        </p:blipFill>
        <p:spPr>
          <a:xfrm>
            <a:off x="822960" y="1234440"/>
            <a:ext cx="4846320" cy="4846320"/>
          </a:xfrm>
          <a:prstGeom prst="rect">
            <a:avLst/>
          </a:prstGeom>
        </p:spPr>
      </p:pic>
      <p:sp>
        <p:nvSpPr>
          <p:cNvPr id="6" name="TextBox 5"/>
          <p:cNvSpPr txBox="1"/>
          <p:nvPr/>
        </p:nvSpPr>
        <p:spPr>
          <a:xfrm>
            <a:off x="822960" y="6135624"/>
            <a:ext cx="4846320" cy="274320"/>
          </a:xfrm>
          <a:prstGeom prst="rect">
            <a:avLst/>
          </a:prstGeom>
          <a:noFill/>
        </p:spPr>
        <p:txBody>
          <a:bodyPr wrap="square">
            <a:spAutoFit/>
          </a:bodyPr>
          <a:lstStyle/>
          <a:p>
            <a:pPr algn="ctr"/>
            <a:r>
              <a:rPr sz="1100" b="0">
                <a:solidFill>
                  <a:srgbClr val="6B6B6B"/>
                </a:solidFill>
                <a:latin typeface="Inter"/>
              </a:rPr>
              <a:t>Current drawing · drawn in code, AI-assisted</a:t>
            </a:r>
          </a:p>
        </p:txBody>
      </p:sp>
      <p:cxnSp>
        <p:nvCxnSpPr>
          <p:cNvPr id="7" name="Connector 6"/>
          <p:cNvCxnSpPr/>
          <p:nvPr/>
        </p:nvCxnSpPr>
        <p:spPr>
          <a:xfrm>
            <a:off x="6095847" y="1143000"/>
            <a:ext cx="0" cy="5394960"/>
          </a:xfrm>
          <a:prstGeom prst="line">
            <a:avLst/>
          </a:prstGeom>
          <a:ln w="15875">
            <a:solidFill>
              <a:srgbClr val="D4D4D4"/>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522415" y="1234440"/>
            <a:ext cx="4846320" cy="4846320"/>
          </a:xfrm>
          <a:prstGeom prst="roundRect">
            <a:avLst>
              <a:gd name="adj" fmla="val 3000"/>
            </a:avLst>
          </a:prstGeom>
          <a:noFill/>
          <a:ln w="19050">
            <a:solidFill>
              <a:srgbClr val="4A7C59"/>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 name="Connector 8"/>
          <p:cNvCxnSpPr/>
          <p:nvPr/>
        </p:nvCxnSpPr>
        <p:spPr>
          <a:xfrm>
            <a:off x="6796735" y="5789980"/>
            <a:ext cx="4297680" cy="0"/>
          </a:xfrm>
          <a:prstGeom prst="line">
            <a:avLst/>
          </a:prstGeom>
          <a:ln w="12700">
            <a:solidFill>
              <a:srgbClr val="4A7C59"/>
            </a:solidFill>
            <a:prstDash val="lgDash"/>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522415" y="6135624"/>
            <a:ext cx="4846320" cy="274320"/>
          </a:xfrm>
          <a:prstGeom prst="rect">
            <a:avLst/>
          </a:prstGeom>
          <a:noFill/>
        </p:spPr>
        <p:txBody>
          <a:bodyPr wrap="square">
            <a:spAutoFit/>
          </a:bodyPr>
          <a:lstStyle/>
          <a:p>
            <a:pPr algn="ctr"/>
            <a:r>
              <a:rPr sz="1100" b="0">
                <a:solidFill>
                  <a:srgbClr val="3D6A4B"/>
                </a:solidFill>
                <a:latin typeface="Inter"/>
              </a:rPr>
              <a:t>Your drawing · same frame, same baseline, no words</a:t>
            </a:r>
          </a:p>
        </p:txBody>
      </p:sp>
      <p:sp>
        <p:nvSpPr>
          <p:cNvPr id="11" name="TextBox 10"/>
          <p:cNvSpPr txBox="1"/>
          <p:nvPr/>
        </p:nvSpPr>
        <p:spPr>
          <a:xfrm>
            <a:off x="822960" y="6473952"/>
            <a:ext cx="10515600" cy="320040"/>
          </a:xfrm>
          <a:prstGeom prst="rect">
            <a:avLst/>
          </a:prstGeom>
          <a:noFill/>
        </p:spPr>
        <p:txBody>
          <a:bodyPr wrap="square">
            <a:spAutoFit/>
          </a:bodyPr>
          <a:lstStyle/>
          <a:p>
            <a:pPr algn="l"/>
            <a:r>
              <a:rPr sz="1000" b="0">
                <a:solidFill>
                  <a:srgbClr val="6B6B6B"/>
                </a:solidFill>
                <a:latin typeface="Inter"/>
              </a:rPr>
              <a:t>/safety-and-security/ · 1000 x 1000 px, transparent · export the right frame as PNG with the same name: safety-and-security.png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320040"/>
            <a:ext cx="7315200" cy="365760"/>
          </a:xfrm>
          <a:prstGeom prst="rect">
            <a:avLst/>
          </a:prstGeom>
          <a:noFill/>
        </p:spPr>
        <p:txBody>
          <a:bodyPr wrap="square">
            <a:spAutoFit/>
          </a:bodyPr>
          <a:lstStyle/>
          <a:p>
            <a:pPr algn="l"/>
            <a:r>
              <a:rPr sz="1100" b="1">
                <a:solidFill>
                  <a:srgbClr val="3D6A4B"/>
                </a:solidFill>
                <a:latin typeface="Inter"/>
              </a:rPr>
              <a:t>WET LAB</a:t>
            </a:r>
          </a:p>
        </p:txBody>
      </p:sp>
      <p:sp>
        <p:nvSpPr>
          <p:cNvPr id="3" name="TextBox 2"/>
          <p:cNvSpPr txBox="1"/>
          <p:nvPr/>
        </p:nvSpPr>
        <p:spPr>
          <a:xfrm>
            <a:off x="822960" y="566928"/>
            <a:ext cx="7315200" cy="548640"/>
          </a:xfrm>
          <a:prstGeom prst="rect">
            <a:avLst/>
          </a:prstGeom>
          <a:noFill/>
        </p:spPr>
        <p:txBody>
          <a:bodyPr wrap="square">
            <a:spAutoFit/>
          </a:bodyPr>
          <a:lstStyle/>
          <a:p>
            <a:pPr algn="l"/>
            <a:r>
              <a:rPr sz="2600" b="1">
                <a:solidFill>
                  <a:srgbClr val="171717"/>
                </a:solidFill>
                <a:latin typeface="Inter"/>
              </a:rPr>
              <a:t>Notebook</a:t>
            </a:r>
          </a:p>
        </p:txBody>
      </p:sp>
      <p:sp>
        <p:nvSpPr>
          <p:cNvPr id="4" name="Rounded Rectangle 3"/>
          <p:cNvSpPr/>
          <p:nvPr/>
        </p:nvSpPr>
        <p:spPr>
          <a:xfrm>
            <a:off x="822960" y="1234440"/>
            <a:ext cx="4846320" cy="4846320"/>
          </a:xfrm>
          <a:prstGeom prst="roundRect">
            <a:avLst>
              <a:gd name="adj" fmla="val 3000"/>
            </a:avLst>
          </a:prstGeom>
          <a:noFill/>
          <a:ln w="12700">
            <a:solidFill>
              <a:srgbClr val="D4D4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notebook.png"/>
          <p:cNvPicPr>
            <a:picLocks noChangeAspect="1"/>
          </p:cNvPicPr>
          <p:nvPr/>
        </p:nvPicPr>
        <p:blipFill>
          <a:blip r:embed="rId2"/>
          <a:stretch>
            <a:fillRect/>
          </a:stretch>
        </p:blipFill>
        <p:spPr>
          <a:xfrm>
            <a:off x="822960" y="1234440"/>
            <a:ext cx="4846320" cy="4846320"/>
          </a:xfrm>
          <a:prstGeom prst="rect">
            <a:avLst/>
          </a:prstGeom>
        </p:spPr>
      </p:pic>
      <p:sp>
        <p:nvSpPr>
          <p:cNvPr id="6" name="TextBox 5"/>
          <p:cNvSpPr txBox="1"/>
          <p:nvPr/>
        </p:nvSpPr>
        <p:spPr>
          <a:xfrm>
            <a:off x="822960" y="6135624"/>
            <a:ext cx="4846320" cy="274320"/>
          </a:xfrm>
          <a:prstGeom prst="rect">
            <a:avLst/>
          </a:prstGeom>
          <a:noFill/>
        </p:spPr>
        <p:txBody>
          <a:bodyPr wrap="square">
            <a:spAutoFit/>
          </a:bodyPr>
          <a:lstStyle/>
          <a:p>
            <a:pPr algn="ctr"/>
            <a:r>
              <a:rPr sz="1100" b="0">
                <a:solidFill>
                  <a:srgbClr val="6B6B6B"/>
                </a:solidFill>
                <a:latin typeface="Inter"/>
              </a:rPr>
              <a:t>Current drawing · drawn in code, AI-assisted</a:t>
            </a:r>
          </a:p>
        </p:txBody>
      </p:sp>
      <p:cxnSp>
        <p:nvCxnSpPr>
          <p:cNvPr id="7" name="Connector 6"/>
          <p:cNvCxnSpPr/>
          <p:nvPr/>
        </p:nvCxnSpPr>
        <p:spPr>
          <a:xfrm>
            <a:off x="6095847" y="1143000"/>
            <a:ext cx="0" cy="5394960"/>
          </a:xfrm>
          <a:prstGeom prst="line">
            <a:avLst/>
          </a:prstGeom>
          <a:ln w="15875">
            <a:solidFill>
              <a:srgbClr val="D4D4D4"/>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522415" y="1234440"/>
            <a:ext cx="4846320" cy="4846320"/>
          </a:xfrm>
          <a:prstGeom prst="roundRect">
            <a:avLst>
              <a:gd name="adj" fmla="val 3000"/>
            </a:avLst>
          </a:prstGeom>
          <a:noFill/>
          <a:ln w="19050">
            <a:solidFill>
              <a:srgbClr val="4A7C59"/>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 name="Connector 8"/>
          <p:cNvCxnSpPr/>
          <p:nvPr/>
        </p:nvCxnSpPr>
        <p:spPr>
          <a:xfrm>
            <a:off x="6796735" y="5789980"/>
            <a:ext cx="4297680" cy="0"/>
          </a:xfrm>
          <a:prstGeom prst="line">
            <a:avLst/>
          </a:prstGeom>
          <a:ln w="12700">
            <a:solidFill>
              <a:srgbClr val="4A7C59"/>
            </a:solidFill>
            <a:prstDash val="lgDash"/>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522415" y="6135624"/>
            <a:ext cx="4846320" cy="274320"/>
          </a:xfrm>
          <a:prstGeom prst="rect">
            <a:avLst/>
          </a:prstGeom>
          <a:noFill/>
        </p:spPr>
        <p:txBody>
          <a:bodyPr wrap="square">
            <a:spAutoFit/>
          </a:bodyPr>
          <a:lstStyle/>
          <a:p>
            <a:pPr algn="ctr"/>
            <a:r>
              <a:rPr sz="1100" b="0">
                <a:solidFill>
                  <a:srgbClr val="3D6A4B"/>
                </a:solidFill>
                <a:latin typeface="Inter"/>
              </a:rPr>
              <a:t>Your drawing · same frame, same baseline, no words</a:t>
            </a:r>
          </a:p>
        </p:txBody>
      </p:sp>
      <p:sp>
        <p:nvSpPr>
          <p:cNvPr id="11" name="TextBox 10"/>
          <p:cNvSpPr txBox="1"/>
          <p:nvPr/>
        </p:nvSpPr>
        <p:spPr>
          <a:xfrm>
            <a:off x="822960" y="6473952"/>
            <a:ext cx="10515600" cy="320040"/>
          </a:xfrm>
          <a:prstGeom prst="rect">
            <a:avLst/>
          </a:prstGeom>
          <a:noFill/>
        </p:spPr>
        <p:txBody>
          <a:bodyPr wrap="square">
            <a:spAutoFit/>
          </a:bodyPr>
          <a:lstStyle/>
          <a:p>
            <a:pPr algn="l"/>
            <a:r>
              <a:rPr sz="1000" b="0">
                <a:solidFill>
                  <a:srgbClr val="6B6B6B"/>
                </a:solidFill>
                <a:latin typeface="Inter"/>
              </a:rPr>
              <a:t>/notebook/ · 1000 x 1000 px, transparent · export the right frame as PNG with the same name: notebook.png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320040"/>
            <a:ext cx="7315200" cy="365760"/>
          </a:xfrm>
          <a:prstGeom prst="rect">
            <a:avLst/>
          </a:prstGeom>
          <a:noFill/>
        </p:spPr>
        <p:txBody>
          <a:bodyPr wrap="square">
            <a:spAutoFit/>
          </a:bodyPr>
          <a:lstStyle/>
          <a:p>
            <a:pPr algn="l"/>
            <a:r>
              <a:rPr sz="1100" b="1">
                <a:solidFill>
                  <a:srgbClr val="3F5A66"/>
                </a:solidFill>
                <a:latin typeface="Inter"/>
              </a:rPr>
              <a:t>DRY LAB</a:t>
            </a:r>
          </a:p>
        </p:txBody>
      </p:sp>
      <p:sp>
        <p:nvSpPr>
          <p:cNvPr id="3" name="TextBox 2"/>
          <p:cNvSpPr txBox="1"/>
          <p:nvPr/>
        </p:nvSpPr>
        <p:spPr>
          <a:xfrm>
            <a:off x="822960" y="566928"/>
            <a:ext cx="7315200" cy="548640"/>
          </a:xfrm>
          <a:prstGeom prst="rect">
            <a:avLst/>
          </a:prstGeom>
          <a:noFill/>
        </p:spPr>
        <p:txBody>
          <a:bodyPr wrap="square">
            <a:spAutoFit/>
          </a:bodyPr>
          <a:lstStyle/>
          <a:p>
            <a:pPr algn="l"/>
            <a:r>
              <a:rPr sz="2600" b="1">
                <a:solidFill>
                  <a:srgbClr val="171717"/>
                </a:solidFill>
                <a:latin typeface="Inter"/>
              </a:rPr>
              <a:t>Math Model</a:t>
            </a:r>
          </a:p>
        </p:txBody>
      </p:sp>
      <p:sp>
        <p:nvSpPr>
          <p:cNvPr id="4" name="Rounded Rectangle 3"/>
          <p:cNvSpPr/>
          <p:nvPr/>
        </p:nvSpPr>
        <p:spPr>
          <a:xfrm>
            <a:off x="822960" y="1234440"/>
            <a:ext cx="4846320" cy="4846320"/>
          </a:xfrm>
          <a:prstGeom prst="roundRect">
            <a:avLst>
              <a:gd name="adj" fmla="val 3000"/>
            </a:avLst>
          </a:prstGeom>
          <a:noFill/>
          <a:ln w="12700">
            <a:solidFill>
              <a:srgbClr val="D4D4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model.png"/>
          <p:cNvPicPr>
            <a:picLocks noChangeAspect="1"/>
          </p:cNvPicPr>
          <p:nvPr/>
        </p:nvPicPr>
        <p:blipFill>
          <a:blip r:embed="rId2"/>
          <a:stretch>
            <a:fillRect/>
          </a:stretch>
        </p:blipFill>
        <p:spPr>
          <a:xfrm>
            <a:off x="822960" y="1234440"/>
            <a:ext cx="4846320" cy="4846320"/>
          </a:xfrm>
          <a:prstGeom prst="rect">
            <a:avLst/>
          </a:prstGeom>
        </p:spPr>
      </p:pic>
      <p:sp>
        <p:nvSpPr>
          <p:cNvPr id="6" name="TextBox 5"/>
          <p:cNvSpPr txBox="1"/>
          <p:nvPr/>
        </p:nvSpPr>
        <p:spPr>
          <a:xfrm>
            <a:off x="822960" y="6135624"/>
            <a:ext cx="4846320" cy="274320"/>
          </a:xfrm>
          <a:prstGeom prst="rect">
            <a:avLst/>
          </a:prstGeom>
          <a:noFill/>
        </p:spPr>
        <p:txBody>
          <a:bodyPr wrap="square">
            <a:spAutoFit/>
          </a:bodyPr>
          <a:lstStyle/>
          <a:p>
            <a:pPr algn="ctr"/>
            <a:r>
              <a:rPr sz="1100" b="0">
                <a:solidFill>
                  <a:srgbClr val="6B6B6B"/>
                </a:solidFill>
                <a:latin typeface="Inter"/>
              </a:rPr>
              <a:t>Current drawing · drawn in code, AI-assisted</a:t>
            </a:r>
          </a:p>
        </p:txBody>
      </p:sp>
      <p:cxnSp>
        <p:nvCxnSpPr>
          <p:cNvPr id="7" name="Connector 6"/>
          <p:cNvCxnSpPr/>
          <p:nvPr/>
        </p:nvCxnSpPr>
        <p:spPr>
          <a:xfrm>
            <a:off x="6095847" y="1143000"/>
            <a:ext cx="0" cy="5394960"/>
          </a:xfrm>
          <a:prstGeom prst="line">
            <a:avLst/>
          </a:prstGeom>
          <a:ln w="15875">
            <a:solidFill>
              <a:srgbClr val="D4D4D4"/>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522415" y="1234440"/>
            <a:ext cx="4846320" cy="4846320"/>
          </a:xfrm>
          <a:prstGeom prst="roundRect">
            <a:avLst>
              <a:gd name="adj" fmla="val 3000"/>
            </a:avLst>
          </a:prstGeom>
          <a:noFill/>
          <a:ln w="19050">
            <a:solidFill>
              <a:srgbClr val="6F8F9C"/>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 name="Connector 8"/>
          <p:cNvCxnSpPr/>
          <p:nvPr/>
        </p:nvCxnSpPr>
        <p:spPr>
          <a:xfrm>
            <a:off x="6796735" y="5789980"/>
            <a:ext cx="4297680" cy="0"/>
          </a:xfrm>
          <a:prstGeom prst="line">
            <a:avLst/>
          </a:prstGeom>
          <a:ln w="12700">
            <a:solidFill>
              <a:srgbClr val="6F8F9C"/>
            </a:solidFill>
            <a:prstDash val="lgDash"/>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522415" y="6135624"/>
            <a:ext cx="4846320" cy="274320"/>
          </a:xfrm>
          <a:prstGeom prst="rect">
            <a:avLst/>
          </a:prstGeom>
          <a:noFill/>
        </p:spPr>
        <p:txBody>
          <a:bodyPr wrap="square">
            <a:spAutoFit/>
          </a:bodyPr>
          <a:lstStyle/>
          <a:p>
            <a:pPr algn="ctr"/>
            <a:r>
              <a:rPr sz="1100" b="0">
                <a:solidFill>
                  <a:srgbClr val="3F5A66"/>
                </a:solidFill>
                <a:latin typeface="Inter"/>
              </a:rPr>
              <a:t>Your drawing · same frame, same baseline, no words</a:t>
            </a:r>
          </a:p>
        </p:txBody>
      </p:sp>
      <p:sp>
        <p:nvSpPr>
          <p:cNvPr id="11" name="TextBox 10"/>
          <p:cNvSpPr txBox="1"/>
          <p:nvPr/>
        </p:nvSpPr>
        <p:spPr>
          <a:xfrm>
            <a:off x="822960" y="6473952"/>
            <a:ext cx="10515600" cy="320040"/>
          </a:xfrm>
          <a:prstGeom prst="rect">
            <a:avLst/>
          </a:prstGeom>
          <a:noFill/>
        </p:spPr>
        <p:txBody>
          <a:bodyPr wrap="square">
            <a:spAutoFit/>
          </a:bodyPr>
          <a:lstStyle/>
          <a:p>
            <a:pPr algn="l"/>
            <a:r>
              <a:rPr sz="1000" b="0">
                <a:solidFill>
                  <a:srgbClr val="6B6B6B"/>
                </a:solidFill>
                <a:latin typeface="Inter"/>
              </a:rPr>
              <a:t>/model/ · 1000 x 1000 px, transparent · export the right frame as PNG with the same name: model.png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320040"/>
            <a:ext cx="7315200" cy="365760"/>
          </a:xfrm>
          <a:prstGeom prst="rect">
            <a:avLst/>
          </a:prstGeom>
          <a:noFill/>
        </p:spPr>
        <p:txBody>
          <a:bodyPr wrap="square">
            <a:spAutoFit/>
          </a:bodyPr>
          <a:lstStyle/>
          <a:p>
            <a:pPr algn="l"/>
            <a:r>
              <a:rPr sz="1100" b="1">
                <a:solidFill>
                  <a:srgbClr val="3F5A66"/>
                </a:solidFill>
                <a:latin typeface="Inter"/>
              </a:rPr>
              <a:t>DRY LAB</a:t>
            </a:r>
          </a:p>
        </p:txBody>
      </p:sp>
      <p:sp>
        <p:nvSpPr>
          <p:cNvPr id="3" name="TextBox 2"/>
          <p:cNvSpPr txBox="1"/>
          <p:nvPr/>
        </p:nvSpPr>
        <p:spPr>
          <a:xfrm>
            <a:off x="822960" y="566928"/>
            <a:ext cx="7315200" cy="548640"/>
          </a:xfrm>
          <a:prstGeom prst="rect">
            <a:avLst/>
          </a:prstGeom>
          <a:noFill/>
        </p:spPr>
        <p:txBody>
          <a:bodyPr wrap="square">
            <a:spAutoFit/>
          </a:bodyPr>
          <a:lstStyle/>
          <a:p>
            <a:pPr algn="l"/>
            <a:r>
              <a:rPr sz="2600" b="1">
                <a:solidFill>
                  <a:srgbClr val="171717"/>
                </a:solidFill>
                <a:latin typeface="Inter"/>
              </a:rPr>
              <a:t>Hardware</a:t>
            </a:r>
          </a:p>
        </p:txBody>
      </p:sp>
      <p:sp>
        <p:nvSpPr>
          <p:cNvPr id="4" name="Rounded Rectangle 3"/>
          <p:cNvSpPr/>
          <p:nvPr/>
        </p:nvSpPr>
        <p:spPr>
          <a:xfrm>
            <a:off x="822960" y="1234440"/>
            <a:ext cx="4846320" cy="4846320"/>
          </a:xfrm>
          <a:prstGeom prst="roundRect">
            <a:avLst>
              <a:gd name="adj" fmla="val 3000"/>
            </a:avLst>
          </a:prstGeom>
          <a:noFill/>
          <a:ln w="12700">
            <a:solidFill>
              <a:srgbClr val="D4D4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hardware.png"/>
          <p:cNvPicPr>
            <a:picLocks noChangeAspect="1"/>
          </p:cNvPicPr>
          <p:nvPr/>
        </p:nvPicPr>
        <p:blipFill>
          <a:blip r:embed="rId2"/>
          <a:stretch>
            <a:fillRect/>
          </a:stretch>
        </p:blipFill>
        <p:spPr>
          <a:xfrm>
            <a:off x="822960" y="1234440"/>
            <a:ext cx="4846320" cy="4846320"/>
          </a:xfrm>
          <a:prstGeom prst="rect">
            <a:avLst/>
          </a:prstGeom>
        </p:spPr>
      </p:pic>
      <p:sp>
        <p:nvSpPr>
          <p:cNvPr id="6" name="TextBox 5"/>
          <p:cNvSpPr txBox="1"/>
          <p:nvPr/>
        </p:nvSpPr>
        <p:spPr>
          <a:xfrm>
            <a:off x="822960" y="6135624"/>
            <a:ext cx="4846320" cy="274320"/>
          </a:xfrm>
          <a:prstGeom prst="rect">
            <a:avLst/>
          </a:prstGeom>
          <a:noFill/>
        </p:spPr>
        <p:txBody>
          <a:bodyPr wrap="square">
            <a:spAutoFit/>
          </a:bodyPr>
          <a:lstStyle/>
          <a:p>
            <a:pPr algn="ctr"/>
            <a:r>
              <a:rPr sz="1100" b="0">
                <a:solidFill>
                  <a:srgbClr val="6B6B6B"/>
                </a:solidFill>
                <a:latin typeface="Inter"/>
              </a:rPr>
              <a:t>Current drawing · drawn in code, AI-assisted</a:t>
            </a:r>
          </a:p>
        </p:txBody>
      </p:sp>
      <p:cxnSp>
        <p:nvCxnSpPr>
          <p:cNvPr id="7" name="Connector 6"/>
          <p:cNvCxnSpPr/>
          <p:nvPr/>
        </p:nvCxnSpPr>
        <p:spPr>
          <a:xfrm>
            <a:off x="6095847" y="1143000"/>
            <a:ext cx="0" cy="5394960"/>
          </a:xfrm>
          <a:prstGeom prst="line">
            <a:avLst/>
          </a:prstGeom>
          <a:ln w="15875">
            <a:solidFill>
              <a:srgbClr val="D4D4D4"/>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522415" y="1234440"/>
            <a:ext cx="4846320" cy="4846320"/>
          </a:xfrm>
          <a:prstGeom prst="roundRect">
            <a:avLst>
              <a:gd name="adj" fmla="val 3000"/>
            </a:avLst>
          </a:prstGeom>
          <a:noFill/>
          <a:ln w="19050">
            <a:solidFill>
              <a:srgbClr val="6F8F9C"/>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 name="Connector 8"/>
          <p:cNvCxnSpPr/>
          <p:nvPr/>
        </p:nvCxnSpPr>
        <p:spPr>
          <a:xfrm>
            <a:off x="6796735" y="5789980"/>
            <a:ext cx="4297680" cy="0"/>
          </a:xfrm>
          <a:prstGeom prst="line">
            <a:avLst/>
          </a:prstGeom>
          <a:ln w="12700">
            <a:solidFill>
              <a:srgbClr val="6F8F9C"/>
            </a:solidFill>
            <a:prstDash val="lgDash"/>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522415" y="6135624"/>
            <a:ext cx="4846320" cy="274320"/>
          </a:xfrm>
          <a:prstGeom prst="rect">
            <a:avLst/>
          </a:prstGeom>
          <a:noFill/>
        </p:spPr>
        <p:txBody>
          <a:bodyPr wrap="square">
            <a:spAutoFit/>
          </a:bodyPr>
          <a:lstStyle/>
          <a:p>
            <a:pPr algn="ctr"/>
            <a:r>
              <a:rPr sz="1100" b="0">
                <a:solidFill>
                  <a:srgbClr val="3F5A66"/>
                </a:solidFill>
                <a:latin typeface="Inter"/>
              </a:rPr>
              <a:t>Your drawing · same frame, same baseline, no words</a:t>
            </a:r>
          </a:p>
        </p:txBody>
      </p:sp>
      <p:sp>
        <p:nvSpPr>
          <p:cNvPr id="11" name="TextBox 10"/>
          <p:cNvSpPr txBox="1"/>
          <p:nvPr/>
        </p:nvSpPr>
        <p:spPr>
          <a:xfrm>
            <a:off x="822960" y="6473952"/>
            <a:ext cx="10515600" cy="320040"/>
          </a:xfrm>
          <a:prstGeom prst="rect">
            <a:avLst/>
          </a:prstGeom>
          <a:noFill/>
        </p:spPr>
        <p:txBody>
          <a:bodyPr wrap="square">
            <a:spAutoFit/>
          </a:bodyPr>
          <a:lstStyle/>
          <a:p>
            <a:pPr algn="l"/>
            <a:r>
              <a:rPr sz="1000" b="0">
                <a:solidFill>
                  <a:srgbClr val="6B6B6B"/>
                </a:solidFill>
                <a:latin typeface="Inter"/>
              </a:rPr>
              <a:t>/hardware/ · 1000 x 1000 px, transparent · export the right frame as PNG with the same name: hardware.png</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320040"/>
            <a:ext cx="7315200" cy="365760"/>
          </a:xfrm>
          <a:prstGeom prst="rect">
            <a:avLst/>
          </a:prstGeom>
          <a:noFill/>
        </p:spPr>
        <p:txBody>
          <a:bodyPr wrap="square">
            <a:spAutoFit/>
          </a:bodyPr>
          <a:lstStyle/>
          <a:p>
            <a:pPr algn="l"/>
            <a:r>
              <a:rPr sz="1100" b="1">
                <a:solidFill>
                  <a:srgbClr val="3F5A66"/>
                </a:solidFill>
                <a:latin typeface="Inter"/>
              </a:rPr>
              <a:t>DRY LAB</a:t>
            </a:r>
          </a:p>
        </p:txBody>
      </p:sp>
      <p:sp>
        <p:nvSpPr>
          <p:cNvPr id="3" name="TextBox 2"/>
          <p:cNvSpPr txBox="1"/>
          <p:nvPr/>
        </p:nvSpPr>
        <p:spPr>
          <a:xfrm>
            <a:off x="822960" y="566928"/>
            <a:ext cx="7315200" cy="548640"/>
          </a:xfrm>
          <a:prstGeom prst="rect">
            <a:avLst/>
          </a:prstGeom>
          <a:noFill/>
        </p:spPr>
        <p:txBody>
          <a:bodyPr wrap="square">
            <a:spAutoFit/>
          </a:bodyPr>
          <a:lstStyle/>
          <a:p>
            <a:pPr algn="l"/>
            <a:r>
              <a:rPr sz="2600" b="1">
                <a:solidFill>
                  <a:srgbClr val="171717"/>
                </a:solidFill>
                <a:latin typeface="Inter"/>
              </a:rPr>
              <a:t>Digital Twin</a:t>
            </a:r>
          </a:p>
        </p:txBody>
      </p:sp>
      <p:sp>
        <p:nvSpPr>
          <p:cNvPr id="4" name="Rounded Rectangle 3"/>
          <p:cNvSpPr/>
          <p:nvPr/>
        </p:nvSpPr>
        <p:spPr>
          <a:xfrm>
            <a:off x="822960" y="1234440"/>
            <a:ext cx="4846320" cy="4846320"/>
          </a:xfrm>
          <a:prstGeom prst="roundRect">
            <a:avLst>
              <a:gd name="adj" fmla="val 3000"/>
            </a:avLst>
          </a:prstGeom>
          <a:noFill/>
          <a:ln w="12700">
            <a:solidFill>
              <a:srgbClr val="D4D4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oftware.png"/>
          <p:cNvPicPr>
            <a:picLocks noChangeAspect="1"/>
          </p:cNvPicPr>
          <p:nvPr/>
        </p:nvPicPr>
        <p:blipFill>
          <a:blip r:embed="rId2"/>
          <a:stretch>
            <a:fillRect/>
          </a:stretch>
        </p:blipFill>
        <p:spPr>
          <a:xfrm>
            <a:off x="822960" y="1234440"/>
            <a:ext cx="4846320" cy="4846320"/>
          </a:xfrm>
          <a:prstGeom prst="rect">
            <a:avLst/>
          </a:prstGeom>
        </p:spPr>
      </p:pic>
      <p:sp>
        <p:nvSpPr>
          <p:cNvPr id="6" name="TextBox 5"/>
          <p:cNvSpPr txBox="1"/>
          <p:nvPr/>
        </p:nvSpPr>
        <p:spPr>
          <a:xfrm>
            <a:off x="822960" y="6135624"/>
            <a:ext cx="4846320" cy="274320"/>
          </a:xfrm>
          <a:prstGeom prst="rect">
            <a:avLst/>
          </a:prstGeom>
          <a:noFill/>
        </p:spPr>
        <p:txBody>
          <a:bodyPr wrap="square">
            <a:spAutoFit/>
          </a:bodyPr>
          <a:lstStyle/>
          <a:p>
            <a:pPr algn="ctr"/>
            <a:r>
              <a:rPr sz="1100" b="0">
                <a:solidFill>
                  <a:srgbClr val="6B6B6B"/>
                </a:solidFill>
                <a:latin typeface="Inter"/>
              </a:rPr>
              <a:t>Current drawing · drawn in code, AI-assisted</a:t>
            </a:r>
          </a:p>
        </p:txBody>
      </p:sp>
      <p:cxnSp>
        <p:nvCxnSpPr>
          <p:cNvPr id="7" name="Connector 6"/>
          <p:cNvCxnSpPr/>
          <p:nvPr/>
        </p:nvCxnSpPr>
        <p:spPr>
          <a:xfrm>
            <a:off x="6095847" y="1143000"/>
            <a:ext cx="0" cy="5394960"/>
          </a:xfrm>
          <a:prstGeom prst="line">
            <a:avLst/>
          </a:prstGeom>
          <a:ln w="15875">
            <a:solidFill>
              <a:srgbClr val="D4D4D4"/>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522415" y="1234440"/>
            <a:ext cx="4846320" cy="4846320"/>
          </a:xfrm>
          <a:prstGeom prst="roundRect">
            <a:avLst>
              <a:gd name="adj" fmla="val 3000"/>
            </a:avLst>
          </a:prstGeom>
          <a:noFill/>
          <a:ln w="19050">
            <a:solidFill>
              <a:srgbClr val="6F8F9C"/>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 name="Connector 8"/>
          <p:cNvCxnSpPr/>
          <p:nvPr/>
        </p:nvCxnSpPr>
        <p:spPr>
          <a:xfrm>
            <a:off x="6796735" y="5789980"/>
            <a:ext cx="4297680" cy="0"/>
          </a:xfrm>
          <a:prstGeom prst="line">
            <a:avLst/>
          </a:prstGeom>
          <a:ln w="12700">
            <a:solidFill>
              <a:srgbClr val="6F8F9C"/>
            </a:solidFill>
            <a:prstDash val="lgDash"/>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522415" y="6135624"/>
            <a:ext cx="4846320" cy="274320"/>
          </a:xfrm>
          <a:prstGeom prst="rect">
            <a:avLst/>
          </a:prstGeom>
          <a:noFill/>
        </p:spPr>
        <p:txBody>
          <a:bodyPr wrap="square">
            <a:spAutoFit/>
          </a:bodyPr>
          <a:lstStyle/>
          <a:p>
            <a:pPr algn="ctr"/>
            <a:r>
              <a:rPr sz="1100" b="0">
                <a:solidFill>
                  <a:srgbClr val="3F5A66"/>
                </a:solidFill>
                <a:latin typeface="Inter"/>
              </a:rPr>
              <a:t>Your drawing · same frame, same baseline, no words</a:t>
            </a:r>
          </a:p>
        </p:txBody>
      </p:sp>
      <p:sp>
        <p:nvSpPr>
          <p:cNvPr id="11" name="TextBox 10"/>
          <p:cNvSpPr txBox="1"/>
          <p:nvPr/>
        </p:nvSpPr>
        <p:spPr>
          <a:xfrm>
            <a:off x="822960" y="6473952"/>
            <a:ext cx="10515600" cy="320040"/>
          </a:xfrm>
          <a:prstGeom prst="rect">
            <a:avLst/>
          </a:prstGeom>
          <a:noFill/>
        </p:spPr>
        <p:txBody>
          <a:bodyPr wrap="square">
            <a:spAutoFit/>
          </a:bodyPr>
          <a:lstStyle/>
          <a:p>
            <a:pPr algn="l"/>
            <a:r>
              <a:rPr sz="1000" b="0">
                <a:solidFill>
                  <a:srgbClr val="6B6B6B"/>
                </a:solidFill>
                <a:latin typeface="Inter"/>
              </a:rPr>
              <a:t>/software/ · 1000 x 1000 px, transparent · export the right frame as PNG with the same name: software.png</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320040"/>
            <a:ext cx="7315200" cy="365760"/>
          </a:xfrm>
          <a:prstGeom prst="rect">
            <a:avLst/>
          </a:prstGeom>
          <a:noFill/>
        </p:spPr>
        <p:txBody>
          <a:bodyPr wrap="square">
            <a:spAutoFit/>
          </a:bodyPr>
          <a:lstStyle/>
          <a:p>
            <a:pPr algn="l"/>
            <a:r>
              <a:rPr sz="1100" b="1">
                <a:solidFill>
                  <a:srgbClr val="3F5A66"/>
                </a:solidFill>
                <a:latin typeface="Inter"/>
              </a:rPr>
              <a:t>DRY LAB</a:t>
            </a:r>
          </a:p>
        </p:txBody>
      </p:sp>
      <p:sp>
        <p:nvSpPr>
          <p:cNvPr id="3" name="TextBox 2"/>
          <p:cNvSpPr txBox="1"/>
          <p:nvPr/>
        </p:nvSpPr>
        <p:spPr>
          <a:xfrm>
            <a:off x="822960" y="566928"/>
            <a:ext cx="7315200" cy="548640"/>
          </a:xfrm>
          <a:prstGeom prst="rect">
            <a:avLst/>
          </a:prstGeom>
          <a:noFill/>
        </p:spPr>
        <p:txBody>
          <a:bodyPr wrap="square">
            <a:spAutoFit/>
          </a:bodyPr>
          <a:lstStyle/>
          <a:p>
            <a:pPr algn="l"/>
            <a:r>
              <a:rPr sz="2600" b="1">
                <a:solidFill>
                  <a:srgbClr val="171717"/>
                </a:solidFill>
                <a:latin typeface="Inter"/>
              </a:rPr>
              <a:t>Protein Design</a:t>
            </a:r>
          </a:p>
        </p:txBody>
      </p:sp>
      <p:sp>
        <p:nvSpPr>
          <p:cNvPr id="4" name="Rounded Rectangle 3"/>
          <p:cNvSpPr/>
          <p:nvPr/>
        </p:nvSpPr>
        <p:spPr>
          <a:xfrm>
            <a:off x="822960" y="1234440"/>
            <a:ext cx="4846320" cy="4846320"/>
          </a:xfrm>
          <a:prstGeom prst="roundRect">
            <a:avLst>
              <a:gd name="adj" fmla="val 3000"/>
            </a:avLst>
          </a:prstGeom>
          <a:noFill/>
          <a:ln w="12700">
            <a:solidFill>
              <a:srgbClr val="D4D4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protein-design.png"/>
          <p:cNvPicPr>
            <a:picLocks noChangeAspect="1"/>
          </p:cNvPicPr>
          <p:nvPr/>
        </p:nvPicPr>
        <p:blipFill>
          <a:blip r:embed="rId2"/>
          <a:stretch>
            <a:fillRect/>
          </a:stretch>
        </p:blipFill>
        <p:spPr>
          <a:xfrm>
            <a:off x="822960" y="1234440"/>
            <a:ext cx="4846320" cy="4846320"/>
          </a:xfrm>
          <a:prstGeom prst="rect">
            <a:avLst/>
          </a:prstGeom>
        </p:spPr>
      </p:pic>
      <p:sp>
        <p:nvSpPr>
          <p:cNvPr id="6" name="TextBox 5"/>
          <p:cNvSpPr txBox="1"/>
          <p:nvPr/>
        </p:nvSpPr>
        <p:spPr>
          <a:xfrm>
            <a:off x="822960" y="6135624"/>
            <a:ext cx="4846320" cy="274320"/>
          </a:xfrm>
          <a:prstGeom prst="rect">
            <a:avLst/>
          </a:prstGeom>
          <a:noFill/>
        </p:spPr>
        <p:txBody>
          <a:bodyPr wrap="square">
            <a:spAutoFit/>
          </a:bodyPr>
          <a:lstStyle/>
          <a:p>
            <a:pPr algn="ctr"/>
            <a:r>
              <a:rPr sz="1100" b="0">
                <a:solidFill>
                  <a:srgbClr val="6B6B6B"/>
                </a:solidFill>
                <a:latin typeface="Inter"/>
              </a:rPr>
              <a:t>Current drawing · drawn in code, AI-assisted</a:t>
            </a:r>
          </a:p>
        </p:txBody>
      </p:sp>
      <p:cxnSp>
        <p:nvCxnSpPr>
          <p:cNvPr id="7" name="Connector 6"/>
          <p:cNvCxnSpPr/>
          <p:nvPr/>
        </p:nvCxnSpPr>
        <p:spPr>
          <a:xfrm>
            <a:off x="6095847" y="1143000"/>
            <a:ext cx="0" cy="5394960"/>
          </a:xfrm>
          <a:prstGeom prst="line">
            <a:avLst/>
          </a:prstGeom>
          <a:ln w="15875">
            <a:solidFill>
              <a:srgbClr val="D4D4D4"/>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522415" y="1234440"/>
            <a:ext cx="4846320" cy="4846320"/>
          </a:xfrm>
          <a:prstGeom prst="roundRect">
            <a:avLst>
              <a:gd name="adj" fmla="val 3000"/>
            </a:avLst>
          </a:prstGeom>
          <a:noFill/>
          <a:ln w="19050">
            <a:solidFill>
              <a:srgbClr val="6F8F9C"/>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 name="Connector 8"/>
          <p:cNvCxnSpPr/>
          <p:nvPr/>
        </p:nvCxnSpPr>
        <p:spPr>
          <a:xfrm>
            <a:off x="6796735" y="5789980"/>
            <a:ext cx="4297680" cy="0"/>
          </a:xfrm>
          <a:prstGeom prst="line">
            <a:avLst/>
          </a:prstGeom>
          <a:ln w="12700">
            <a:solidFill>
              <a:srgbClr val="6F8F9C"/>
            </a:solidFill>
            <a:prstDash val="lgDash"/>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522415" y="6135624"/>
            <a:ext cx="4846320" cy="274320"/>
          </a:xfrm>
          <a:prstGeom prst="rect">
            <a:avLst/>
          </a:prstGeom>
          <a:noFill/>
        </p:spPr>
        <p:txBody>
          <a:bodyPr wrap="square">
            <a:spAutoFit/>
          </a:bodyPr>
          <a:lstStyle/>
          <a:p>
            <a:pPr algn="ctr"/>
            <a:r>
              <a:rPr sz="1100" b="0">
                <a:solidFill>
                  <a:srgbClr val="3F5A66"/>
                </a:solidFill>
                <a:latin typeface="Inter"/>
              </a:rPr>
              <a:t>Your drawing · same frame, same baseline, no words</a:t>
            </a:r>
          </a:p>
        </p:txBody>
      </p:sp>
      <p:sp>
        <p:nvSpPr>
          <p:cNvPr id="11" name="TextBox 10"/>
          <p:cNvSpPr txBox="1"/>
          <p:nvPr/>
        </p:nvSpPr>
        <p:spPr>
          <a:xfrm>
            <a:off x="822960" y="6473952"/>
            <a:ext cx="10515600" cy="320040"/>
          </a:xfrm>
          <a:prstGeom prst="rect">
            <a:avLst/>
          </a:prstGeom>
          <a:noFill/>
        </p:spPr>
        <p:txBody>
          <a:bodyPr wrap="square">
            <a:spAutoFit/>
          </a:bodyPr>
          <a:lstStyle/>
          <a:p>
            <a:pPr algn="l"/>
            <a:r>
              <a:rPr sz="1000" b="0">
                <a:solidFill>
                  <a:srgbClr val="6B6B6B"/>
                </a:solidFill>
                <a:latin typeface="Inter"/>
              </a:rPr>
              <a:t>/protein-design/ · 1000 x 1000 px, transparent · export the right frame as PNG with the same name: protein-design.png</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320040"/>
            <a:ext cx="7315200" cy="365760"/>
          </a:xfrm>
          <a:prstGeom prst="rect">
            <a:avLst/>
          </a:prstGeom>
          <a:noFill/>
        </p:spPr>
        <p:txBody>
          <a:bodyPr wrap="square">
            <a:spAutoFit/>
          </a:bodyPr>
          <a:lstStyle/>
          <a:p>
            <a:pPr algn="l"/>
            <a:r>
              <a:rPr sz="1100" b="1">
                <a:solidFill>
                  <a:srgbClr val="3F5A66"/>
                </a:solidFill>
                <a:latin typeface="Inter"/>
              </a:rPr>
              <a:t>DRY LAB</a:t>
            </a:r>
          </a:p>
        </p:txBody>
      </p:sp>
      <p:sp>
        <p:nvSpPr>
          <p:cNvPr id="3" name="TextBox 2"/>
          <p:cNvSpPr txBox="1"/>
          <p:nvPr/>
        </p:nvSpPr>
        <p:spPr>
          <a:xfrm>
            <a:off x="822960" y="566928"/>
            <a:ext cx="7315200" cy="548640"/>
          </a:xfrm>
          <a:prstGeom prst="rect">
            <a:avLst/>
          </a:prstGeom>
          <a:noFill/>
        </p:spPr>
        <p:txBody>
          <a:bodyPr wrap="square">
            <a:spAutoFit/>
          </a:bodyPr>
          <a:lstStyle/>
          <a:p>
            <a:pPr algn="l"/>
            <a:r>
              <a:rPr sz="2600" b="1">
                <a:solidFill>
                  <a:srgbClr val="171717"/>
                </a:solidFill>
                <a:latin typeface="Inter"/>
              </a:rPr>
              <a:t>Dry Lab Notebook</a:t>
            </a:r>
          </a:p>
        </p:txBody>
      </p:sp>
      <p:sp>
        <p:nvSpPr>
          <p:cNvPr id="4" name="Rounded Rectangle 3"/>
          <p:cNvSpPr/>
          <p:nvPr/>
        </p:nvSpPr>
        <p:spPr>
          <a:xfrm>
            <a:off x="822960" y="1234440"/>
            <a:ext cx="4846320" cy="4846320"/>
          </a:xfrm>
          <a:prstGeom prst="roundRect">
            <a:avLst>
              <a:gd name="adj" fmla="val 3000"/>
            </a:avLst>
          </a:prstGeom>
          <a:noFill/>
          <a:ln w="12700">
            <a:solidFill>
              <a:srgbClr val="D4D4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drylab-notebook.png"/>
          <p:cNvPicPr>
            <a:picLocks noChangeAspect="1"/>
          </p:cNvPicPr>
          <p:nvPr/>
        </p:nvPicPr>
        <p:blipFill>
          <a:blip r:embed="rId2"/>
          <a:stretch>
            <a:fillRect/>
          </a:stretch>
        </p:blipFill>
        <p:spPr>
          <a:xfrm>
            <a:off x="822960" y="1234440"/>
            <a:ext cx="4846320" cy="4846320"/>
          </a:xfrm>
          <a:prstGeom prst="rect">
            <a:avLst/>
          </a:prstGeom>
        </p:spPr>
      </p:pic>
      <p:sp>
        <p:nvSpPr>
          <p:cNvPr id="6" name="TextBox 5"/>
          <p:cNvSpPr txBox="1"/>
          <p:nvPr/>
        </p:nvSpPr>
        <p:spPr>
          <a:xfrm>
            <a:off x="822960" y="6135624"/>
            <a:ext cx="4846320" cy="274320"/>
          </a:xfrm>
          <a:prstGeom prst="rect">
            <a:avLst/>
          </a:prstGeom>
          <a:noFill/>
        </p:spPr>
        <p:txBody>
          <a:bodyPr wrap="square">
            <a:spAutoFit/>
          </a:bodyPr>
          <a:lstStyle/>
          <a:p>
            <a:pPr algn="ctr"/>
            <a:r>
              <a:rPr sz="1100" b="0">
                <a:solidFill>
                  <a:srgbClr val="6B6B6B"/>
                </a:solidFill>
                <a:latin typeface="Inter"/>
              </a:rPr>
              <a:t>Current drawing · drawn in code, AI-assisted</a:t>
            </a:r>
          </a:p>
        </p:txBody>
      </p:sp>
      <p:cxnSp>
        <p:nvCxnSpPr>
          <p:cNvPr id="7" name="Connector 6"/>
          <p:cNvCxnSpPr/>
          <p:nvPr/>
        </p:nvCxnSpPr>
        <p:spPr>
          <a:xfrm>
            <a:off x="6095847" y="1143000"/>
            <a:ext cx="0" cy="5394960"/>
          </a:xfrm>
          <a:prstGeom prst="line">
            <a:avLst/>
          </a:prstGeom>
          <a:ln w="15875">
            <a:solidFill>
              <a:srgbClr val="D4D4D4"/>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522415" y="1234440"/>
            <a:ext cx="4846320" cy="4846320"/>
          </a:xfrm>
          <a:prstGeom prst="roundRect">
            <a:avLst>
              <a:gd name="adj" fmla="val 3000"/>
            </a:avLst>
          </a:prstGeom>
          <a:noFill/>
          <a:ln w="19050">
            <a:solidFill>
              <a:srgbClr val="6F8F9C"/>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 name="Connector 8"/>
          <p:cNvCxnSpPr/>
          <p:nvPr/>
        </p:nvCxnSpPr>
        <p:spPr>
          <a:xfrm>
            <a:off x="6796735" y="5789980"/>
            <a:ext cx="4297680" cy="0"/>
          </a:xfrm>
          <a:prstGeom prst="line">
            <a:avLst/>
          </a:prstGeom>
          <a:ln w="12700">
            <a:solidFill>
              <a:srgbClr val="6F8F9C"/>
            </a:solidFill>
            <a:prstDash val="lgDash"/>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522415" y="6135624"/>
            <a:ext cx="4846320" cy="274320"/>
          </a:xfrm>
          <a:prstGeom prst="rect">
            <a:avLst/>
          </a:prstGeom>
          <a:noFill/>
        </p:spPr>
        <p:txBody>
          <a:bodyPr wrap="square">
            <a:spAutoFit/>
          </a:bodyPr>
          <a:lstStyle/>
          <a:p>
            <a:pPr algn="ctr"/>
            <a:r>
              <a:rPr sz="1100" b="0">
                <a:solidFill>
                  <a:srgbClr val="3F5A66"/>
                </a:solidFill>
                <a:latin typeface="Inter"/>
              </a:rPr>
              <a:t>Your drawing · same frame, same baseline, no words</a:t>
            </a:r>
          </a:p>
        </p:txBody>
      </p:sp>
      <p:sp>
        <p:nvSpPr>
          <p:cNvPr id="11" name="TextBox 10"/>
          <p:cNvSpPr txBox="1"/>
          <p:nvPr/>
        </p:nvSpPr>
        <p:spPr>
          <a:xfrm>
            <a:off x="822960" y="6473952"/>
            <a:ext cx="10515600" cy="320040"/>
          </a:xfrm>
          <a:prstGeom prst="rect">
            <a:avLst/>
          </a:prstGeom>
          <a:noFill/>
        </p:spPr>
        <p:txBody>
          <a:bodyPr wrap="square">
            <a:spAutoFit/>
          </a:bodyPr>
          <a:lstStyle/>
          <a:p>
            <a:pPr algn="l"/>
            <a:r>
              <a:rPr sz="1000" b="0">
                <a:solidFill>
                  <a:srgbClr val="6B6B6B"/>
                </a:solidFill>
                <a:latin typeface="Inter"/>
              </a:rPr>
              <a:t>/drylab-notebook/ · 1000 x 1000 px, transparent · export the right frame as PNG with the same name: drylab-notebook.png</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320040"/>
            <a:ext cx="7315200" cy="365760"/>
          </a:xfrm>
          <a:prstGeom prst="rect">
            <a:avLst/>
          </a:prstGeom>
          <a:noFill/>
        </p:spPr>
        <p:txBody>
          <a:bodyPr wrap="square">
            <a:spAutoFit/>
          </a:bodyPr>
          <a:lstStyle/>
          <a:p>
            <a:pPr algn="l"/>
            <a:r>
              <a:rPr sz="1100" b="1">
                <a:solidFill>
                  <a:srgbClr val="85502F"/>
                </a:solidFill>
                <a:latin typeface="Inter"/>
              </a:rPr>
              <a:t>ENGAGEMENT</a:t>
            </a:r>
          </a:p>
        </p:txBody>
      </p:sp>
      <p:sp>
        <p:nvSpPr>
          <p:cNvPr id="3" name="TextBox 2"/>
          <p:cNvSpPr txBox="1"/>
          <p:nvPr/>
        </p:nvSpPr>
        <p:spPr>
          <a:xfrm>
            <a:off x="822960" y="566928"/>
            <a:ext cx="7315200" cy="548640"/>
          </a:xfrm>
          <a:prstGeom prst="rect">
            <a:avLst/>
          </a:prstGeom>
          <a:noFill/>
        </p:spPr>
        <p:txBody>
          <a:bodyPr wrap="square">
            <a:spAutoFit/>
          </a:bodyPr>
          <a:lstStyle/>
          <a:p>
            <a:pPr algn="l"/>
            <a:r>
              <a:rPr sz="2600" b="1">
                <a:solidFill>
                  <a:srgbClr val="171717"/>
                </a:solidFill>
                <a:latin typeface="Inter"/>
              </a:rPr>
              <a:t>Integrated Human Practices</a:t>
            </a:r>
          </a:p>
        </p:txBody>
      </p:sp>
      <p:sp>
        <p:nvSpPr>
          <p:cNvPr id="4" name="Rounded Rectangle 3"/>
          <p:cNvSpPr/>
          <p:nvPr/>
        </p:nvSpPr>
        <p:spPr>
          <a:xfrm>
            <a:off x="822960" y="1234440"/>
            <a:ext cx="4846320" cy="4846320"/>
          </a:xfrm>
          <a:prstGeom prst="roundRect">
            <a:avLst>
              <a:gd name="adj" fmla="val 3000"/>
            </a:avLst>
          </a:prstGeom>
          <a:noFill/>
          <a:ln w="12700">
            <a:solidFill>
              <a:srgbClr val="D4D4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human-practices.png"/>
          <p:cNvPicPr>
            <a:picLocks noChangeAspect="1"/>
          </p:cNvPicPr>
          <p:nvPr/>
        </p:nvPicPr>
        <p:blipFill>
          <a:blip r:embed="rId2"/>
          <a:stretch>
            <a:fillRect/>
          </a:stretch>
        </p:blipFill>
        <p:spPr>
          <a:xfrm>
            <a:off x="822960" y="1234440"/>
            <a:ext cx="4846320" cy="4846320"/>
          </a:xfrm>
          <a:prstGeom prst="rect">
            <a:avLst/>
          </a:prstGeom>
        </p:spPr>
      </p:pic>
      <p:sp>
        <p:nvSpPr>
          <p:cNvPr id="6" name="TextBox 5"/>
          <p:cNvSpPr txBox="1"/>
          <p:nvPr/>
        </p:nvSpPr>
        <p:spPr>
          <a:xfrm>
            <a:off x="822960" y="6135624"/>
            <a:ext cx="4846320" cy="274320"/>
          </a:xfrm>
          <a:prstGeom prst="rect">
            <a:avLst/>
          </a:prstGeom>
          <a:noFill/>
        </p:spPr>
        <p:txBody>
          <a:bodyPr wrap="square">
            <a:spAutoFit/>
          </a:bodyPr>
          <a:lstStyle/>
          <a:p>
            <a:pPr algn="ctr"/>
            <a:r>
              <a:rPr sz="1100" b="0">
                <a:solidFill>
                  <a:srgbClr val="6B6B6B"/>
                </a:solidFill>
                <a:latin typeface="Inter"/>
              </a:rPr>
              <a:t>Current drawing · drawn in code, AI-assisted</a:t>
            </a:r>
          </a:p>
        </p:txBody>
      </p:sp>
      <p:cxnSp>
        <p:nvCxnSpPr>
          <p:cNvPr id="7" name="Connector 6"/>
          <p:cNvCxnSpPr/>
          <p:nvPr/>
        </p:nvCxnSpPr>
        <p:spPr>
          <a:xfrm>
            <a:off x="6095847" y="1143000"/>
            <a:ext cx="0" cy="5394960"/>
          </a:xfrm>
          <a:prstGeom prst="line">
            <a:avLst/>
          </a:prstGeom>
          <a:ln w="15875">
            <a:solidFill>
              <a:srgbClr val="D4D4D4"/>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522415" y="1234440"/>
            <a:ext cx="4846320" cy="4846320"/>
          </a:xfrm>
          <a:prstGeom prst="roundRect">
            <a:avLst>
              <a:gd name="adj" fmla="val 3000"/>
            </a:avLst>
          </a:prstGeom>
          <a:noFill/>
          <a:ln w="19050">
            <a:solidFill>
              <a:srgbClr val="C08A68"/>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 name="Connector 8"/>
          <p:cNvCxnSpPr/>
          <p:nvPr/>
        </p:nvCxnSpPr>
        <p:spPr>
          <a:xfrm>
            <a:off x="6796735" y="5789980"/>
            <a:ext cx="4297680" cy="0"/>
          </a:xfrm>
          <a:prstGeom prst="line">
            <a:avLst/>
          </a:prstGeom>
          <a:ln w="12700">
            <a:solidFill>
              <a:srgbClr val="C08A68"/>
            </a:solidFill>
            <a:prstDash val="lgDash"/>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522415" y="6135624"/>
            <a:ext cx="4846320" cy="274320"/>
          </a:xfrm>
          <a:prstGeom prst="rect">
            <a:avLst/>
          </a:prstGeom>
          <a:noFill/>
        </p:spPr>
        <p:txBody>
          <a:bodyPr wrap="square">
            <a:spAutoFit/>
          </a:bodyPr>
          <a:lstStyle/>
          <a:p>
            <a:pPr algn="ctr"/>
            <a:r>
              <a:rPr sz="1100" b="0">
                <a:solidFill>
                  <a:srgbClr val="85502F"/>
                </a:solidFill>
                <a:latin typeface="Inter"/>
              </a:rPr>
              <a:t>Your drawing · same frame, same baseline, no words</a:t>
            </a:r>
          </a:p>
        </p:txBody>
      </p:sp>
      <p:sp>
        <p:nvSpPr>
          <p:cNvPr id="11" name="TextBox 10"/>
          <p:cNvSpPr txBox="1"/>
          <p:nvPr/>
        </p:nvSpPr>
        <p:spPr>
          <a:xfrm>
            <a:off x="822960" y="6473952"/>
            <a:ext cx="10515600" cy="320040"/>
          </a:xfrm>
          <a:prstGeom prst="rect">
            <a:avLst/>
          </a:prstGeom>
          <a:noFill/>
        </p:spPr>
        <p:txBody>
          <a:bodyPr wrap="square">
            <a:spAutoFit/>
          </a:bodyPr>
          <a:lstStyle/>
          <a:p>
            <a:pPr algn="l"/>
            <a:r>
              <a:rPr sz="1000" b="0">
                <a:solidFill>
                  <a:srgbClr val="6B6B6B"/>
                </a:solidFill>
                <a:latin typeface="Inter"/>
              </a:rPr>
              <a:t>/human-practices/ · 1000 x 1000 px, transparent · export the right frame as PNG with the same name: human-practices.png</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320040"/>
            <a:ext cx="7315200" cy="365760"/>
          </a:xfrm>
          <a:prstGeom prst="rect">
            <a:avLst/>
          </a:prstGeom>
          <a:noFill/>
        </p:spPr>
        <p:txBody>
          <a:bodyPr wrap="square">
            <a:spAutoFit/>
          </a:bodyPr>
          <a:lstStyle/>
          <a:p>
            <a:pPr algn="l"/>
            <a:r>
              <a:rPr sz="1100" b="1">
                <a:solidFill>
                  <a:srgbClr val="85502F"/>
                </a:solidFill>
                <a:latin typeface="Inter"/>
              </a:rPr>
              <a:t>ENGAGEMENT</a:t>
            </a:r>
          </a:p>
        </p:txBody>
      </p:sp>
      <p:sp>
        <p:nvSpPr>
          <p:cNvPr id="3" name="TextBox 2"/>
          <p:cNvSpPr txBox="1"/>
          <p:nvPr/>
        </p:nvSpPr>
        <p:spPr>
          <a:xfrm>
            <a:off x="822960" y="566928"/>
            <a:ext cx="7315200" cy="548640"/>
          </a:xfrm>
          <a:prstGeom prst="rect">
            <a:avLst/>
          </a:prstGeom>
          <a:noFill/>
        </p:spPr>
        <p:txBody>
          <a:bodyPr wrap="square">
            <a:spAutoFit/>
          </a:bodyPr>
          <a:lstStyle/>
          <a:p>
            <a:pPr algn="l"/>
            <a:r>
              <a:rPr sz="2600" b="1">
                <a:solidFill>
                  <a:srgbClr val="171717"/>
                </a:solidFill>
                <a:latin typeface="Inter"/>
              </a:rPr>
              <a:t>Education</a:t>
            </a:r>
          </a:p>
        </p:txBody>
      </p:sp>
      <p:sp>
        <p:nvSpPr>
          <p:cNvPr id="4" name="Rounded Rectangle 3"/>
          <p:cNvSpPr/>
          <p:nvPr/>
        </p:nvSpPr>
        <p:spPr>
          <a:xfrm>
            <a:off x="822960" y="1234440"/>
            <a:ext cx="4846320" cy="4846320"/>
          </a:xfrm>
          <a:prstGeom prst="roundRect">
            <a:avLst>
              <a:gd name="adj" fmla="val 3000"/>
            </a:avLst>
          </a:prstGeom>
          <a:noFill/>
          <a:ln w="12700">
            <a:solidFill>
              <a:srgbClr val="D4D4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education.png"/>
          <p:cNvPicPr>
            <a:picLocks noChangeAspect="1"/>
          </p:cNvPicPr>
          <p:nvPr/>
        </p:nvPicPr>
        <p:blipFill>
          <a:blip r:embed="rId2"/>
          <a:stretch>
            <a:fillRect/>
          </a:stretch>
        </p:blipFill>
        <p:spPr>
          <a:xfrm>
            <a:off x="822960" y="1234440"/>
            <a:ext cx="4846320" cy="4846320"/>
          </a:xfrm>
          <a:prstGeom prst="rect">
            <a:avLst/>
          </a:prstGeom>
        </p:spPr>
      </p:pic>
      <p:sp>
        <p:nvSpPr>
          <p:cNvPr id="6" name="TextBox 5"/>
          <p:cNvSpPr txBox="1"/>
          <p:nvPr/>
        </p:nvSpPr>
        <p:spPr>
          <a:xfrm>
            <a:off x="822960" y="6135624"/>
            <a:ext cx="4846320" cy="274320"/>
          </a:xfrm>
          <a:prstGeom prst="rect">
            <a:avLst/>
          </a:prstGeom>
          <a:noFill/>
        </p:spPr>
        <p:txBody>
          <a:bodyPr wrap="square">
            <a:spAutoFit/>
          </a:bodyPr>
          <a:lstStyle/>
          <a:p>
            <a:pPr algn="ctr"/>
            <a:r>
              <a:rPr sz="1100" b="0">
                <a:solidFill>
                  <a:srgbClr val="6B6B6B"/>
                </a:solidFill>
                <a:latin typeface="Inter"/>
              </a:rPr>
              <a:t>Current drawing · drawn in code, AI-assisted</a:t>
            </a:r>
          </a:p>
        </p:txBody>
      </p:sp>
      <p:cxnSp>
        <p:nvCxnSpPr>
          <p:cNvPr id="7" name="Connector 6"/>
          <p:cNvCxnSpPr/>
          <p:nvPr/>
        </p:nvCxnSpPr>
        <p:spPr>
          <a:xfrm>
            <a:off x="6095847" y="1143000"/>
            <a:ext cx="0" cy="5394960"/>
          </a:xfrm>
          <a:prstGeom prst="line">
            <a:avLst/>
          </a:prstGeom>
          <a:ln w="15875">
            <a:solidFill>
              <a:srgbClr val="D4D4D4"/>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522415" y="1234440"/>
            <a:ext cx="4846320" cy="4846320"/>
          </a:xfrm>
          <a:prstGeom prst="roundRect">
            <a:avLst>
              <a:gd name="adj" fmla="val 3000"/>
            </a:avLst>
          </a:prstGeom>
          <a:noFill/>
          <a:ln w="19050">
            <a:solidFill>
              <a:srgbClr val="C08A68"/>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 name="Connector 8"/>
          <p:cNvCxnSpPr/>
          <p:nvPr/>
        </p:nvCxnSpPr>
        <p:spPr>
          <a:xfrm>
            <a:off x="6796735" y="5789980"/>
            <a:ext cx="4297680" cy="0"/>
          </a:xfrm>
          <a:prstGeom prst="line">
            <a:avLst/>
          </a:prstGeom>
          <a:ln w="12700">
            <a:solidFill>
              <a:srgbClr val="C08A68"/>
            </a:solidFill>
            <a:prstDash val="lgDash"/>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522415" y="6135624"/>
            <a:ext cx="4846320" cy="274320"/>
          </a:xfrm>
          <a:prstGeom prst="rect">
            <a:avLst/>
          </a:prstGeom>
          <a:noFill/>
        </p:spPr>
        <p:txBody>
          <a:bodyPr wrap="square">
            <a:spAutoFit/>
          </a:bodyPr>
          <a:lstStyle/>
          <a:p>
            <a:pPr algn="ctr"/>
            <a:r>
              <a:rPr sz="1100" b="0">
                <a:solidFill>
                  <a:srgbClr val="85502F"/>
                </a:solidFill>
                <a:latin typeface="Inter"/>
              </a:rPr>
              <a:t>Your drawing · same frame, same baseline, no words</a:t>
            </a:r>
          </a:p>
        </p:txBody>
      </p:sp>
      <p:sp>
        <p:nvSpPr>
          <p:cNvPr id="11" name="TextBox 10"/>
          <p:cNvSpPr txBox="1"/>
          <p:nvPr/>
        </p:nvSpPr>
        <p:spPr>
          <a:xfrm>
            <a:off x="822960" y="6473952"/>
            <a:ext cx="10515600" cy="320040"/>
          </a:xfrm>
          <a:prstGeom prst="rect">
            <a:avLst/>
          </a:prstGeom>
          <a:noFill/>
        </p:spPr>
        <p:txBody>
          <a:bodyPr wrap="square">
            <a:spAutoFit/>
          </a:bodyPr>
          <a:lstStyle/>
          <a:p>
            <a:pPr algn="l"/>
            <a:r>
              <a:rPr sz="1000" b="0">
                <a:solidFill>
                  <a:srgbClr val="6B6B6B"/>
                </a:solidFill>
                <a:latin typeface="Inter"/>
              </a:rPr>
              <a:t>/education/ · 1000 x 1000 px, transparent · export the right frame as PNG with the same name: education.png</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320040"/>
            <a:ext cx="7315200" cy="365760"/>
          </a:xfrm>
          <a:prstGeom prst="rect">
            <a:avLst/>
          </a:prstGeom>
          <a:noFill/>
        </p:spPr>
        <p:txBody>
          <a:bodyPr wrap="square">
            <a:spAutoFit/>
          </a:bodyPr>
          <a:lstStyle/>
          <a:p>
            <a:pPr algn="l"/>
            <a:r>
              <a:rPr sz="1100" b="1">
                <a:solidFill>
                  <a:srgbClr val="85502F"/>
                </a:solidFill>
                <a:latin typeface="Inter"/>
              </a:rPr>
              <a:t>ENGAGEMENT</a:t>
            </a:r>
          </a:p>
        </p:txBody>
      </p:sp>
      <p:sp>
        <p:nvSpPr>
          <p:cNvPr id="3" name="TextBox 2"/>
          <p:cNvSpPr txBox="1"/>
          <p:nvPr/>
        </p:nvSpPr>
        <p:spPr>
          <a:xfrm>
            <a:off x="822960" y="566928"/>
            <a:ext cx="7315200" cy="548640"/>
          </a:xfrm>
          <a:prstGeom prst="rect">
            <a:avLst/>
          </a:prstGeom>
          <a:noFill/>
        </p:spPr>
        <p:txBody>
          <a:bodyPr wrap="square">
            <a:spAutoFit/>
          </a:bodyPr>
          <a:lstStyle/>
          <a:p>
            <a:pPr algn="l"/>
            <a:r>
              <a:rPr sz="2600" b="1">
                <a:solidFill>
                  <a:srgbClr val="171717"/>
                </a:solidFill>
                <a:latin typeface="Inter"/>
              </a:rPr>
              <a:t>Entrepreneurship</a:t>
            </a:r>
          </a:p>
        </p:txBody>
      </p:sp>
      <p:sp>
        <p:nvSpPr>
          <p:cNvPr id="4" name="Rounded Rectangle 3"/>
          <p:cNvSpPr/>
          <p:nvPr/>
        </p:nvSpPr>
        <p:spPr>
          <a:xfrm>
            <a:off x="822960" y="1234440"/>
            <a:ext cx="4846320" cy="4846320"/>
          </a:xfrm>
          <a:prstGeom prst="roundRect">
            <a:avLst>
              <a:gd name="adj" fmla="val 3000"/>
            </a:avLst>
          </a:prstGeom>
          <a:noFill/>
          <a:ln w="12700">
            <a:solidFill>
              <a:srgbClr val="D4D4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entrepreneurship.png"/>
          <p:cNvPicPr>
            <a:picLocks noChangeAspect="1"/>
          </p:cNvPicPr>
          <p:nvPr/>
        </p:nvPicPr>
        <p:blipFill>
          <a:blip r:embed="rId2"/>
          <a:stretch>
            <a:fillRect/>
          </a:stretch>
        </p:blipFill>
        <p:spPr>
          <a:xfrm>
            <a:off x="822960" y="1234440"/>
            <a:ext cx="4846320" cy="4846320"/>
          </a:xfrm>
          <a:prstGeom prst="rect">
            <a:avLst/>
          </a:prstGeom>
        </p:spPr>
      </p:pic>
      <p:sp>
        <p:nvSpPr>
          <p:cNvPr id="6" name="TextBox 5"/>
          <p:cNvSpPr txBox="1"/>
          <p:nvPr/>
        </p:nvSpPr>
        <p:spPr>
          <a:xfrm>
            <a:off x="822960" y="6135624"/>
            <a:ext cx="4846320" cy="274320"/>
          </a:xfrm>
          <a:prstGeom prst="rect">
            <a:avLst/>
          </a:prstGeom>
          <a:noFill/>
        </p:spPr>
        <p:txBody>
          <a:bodyPr wrap="square">
            <a:spAutoFit/>
          </a:bodyPr>
          <a:lstStyle/>
          <a:p>
            <a:pPr algn="ctr"/>
            <a:r>
              <a:rPr sz="1100" b="0">
                <a:solidFill>
                  <a:srgbClr val="6B6B6B"/>
                </a:solidFill>
                <a:latin typeface="Inter"/>
              </a:rPr>
              <a:t>Current drawing · drawn in code, AI-assisted</a:t>
            </a:r>
          </a:p>
        </p:txBody>
      </p:sp>
      <p:cxnSp>
        <p:nvCxnSpPr>
          <p:cNvPr id="7" name="Connector 6"/>
          <p:cNvCxnSpPr/>
          <p:nvPr/>
        </p:nvCxnSpPr>
        <p:spPr>
          <a:xfrm>
            <a:off x="6095847" y="1143000"/>
            <a:ext cx="0" cy="5394960"/>
          </a:xfrm>
          <a:prstGeom prst="line">
            <a:avLst/>
          </a:prstGeom>
          <a:ln w="15875">
            <a:solidFill>
              <a:srgbClr val="D4D4D4"/>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522415" y="1234440"/>
            <a:ext cx="4846320" cy="4846320"/>
          </a:xfrm>
          <a:prstGeom prst="roundRect">
            <a:avLst>
              <a:gd name="adj" fmla="val 3000"/>
            </a:avLst>
          </a:prstGeom>
          <a:noFill/>
          <a:ln w="19050">
            <a:solidFill>
              <a:srgbClr val="C08A68"/>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 name="Connector 8"/>
          <p:cNvCxnSpPr/>
          <p:nvPr/>
        </p:nvCxnSpPr>
        <p:spPr>
          <a:xfrm>
            <a:off x="6796735" y="5789980"/>
            <a:ext cx="4297680" cy="0"/>
          </a:xfrm>
          <a:prstGeom prst="line">
            <a:avLst/>
          </a:prstGeom>
          <a:ln w="12700">
            <a:solidFill>
              <a:srgbClr val="C08A68"/>
            </a:solidFill>
            <a:prstDash val="lgDash"/>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522415" y="6135624"/>
            <a:ext cx="4846320" cy="274320"/>
          </a:xfrm>
          <a:prstGeom prst="rect">
            <a:avLst/>
          </a:prstGeom>
          <a:noFill/>
        </p:spPr>
        <p:txBody>
          <a:bodyPr wrap="square">
            <a:spAutoFit/>
          </a:bodyPr>
          <a:lstStyle/>
          <a:p>
            <a:pPr algn="ctr"/>
            <a:r>
              <a:rPr sz="1100" b="0">
                <a:solidFill>
                  <a:srgbClr val="85502F"/>
                </a:solidFill>
                <a:latin typeface="Inter"/>
              </a:rPr>
              <a:t>Your drawing · same frame, same baseline, no words</a:t>
            </a:r>
          </a:p>
        </p:txBody>
      </p:sp>
      <p:sp>
        <p:nvSpPr>
          <p:cNvPr id="11" name="TextBox 10"/>
          <p:cNvSpPr txBox="1"/>
          <p:nvPr/>
        </p:nvSpPr>
        <p:spPr>
          <a:xfrm>
            <a:off x="822960" y="6473952"/>
            <a:ext cx="10515600" cy="320040"/>
          </a:xfrm>
          <a:prstGeom prst="rect">
            <a:avLst/>
          </a:prstGeom>
          <a:noFill/>
        </p:spPr>
        <p:txBody>
          <a:bodyPr wrap="square">
            <a:spAutoFit/>
          </a:bodyPr>
          <a:lstStyle/>
          <a:p>
            <a:pPr algn="l"/>
            <a:r>
              <a:rPr sz="1000" b="0">
                <a:solidFill>
                  <a:srgbClr val="6B6B6B"/>
                </a:solidFill>
                <a:latin typeface="Inter"/>
              </a:rPr>
              <a:t>/entrepreneurship/ · 1000 x 1000 px, transparent · export the right frame as PNG with the same name: entrepreneurship.png</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320040"/>
            <a:ext cx="7315200" cy="365760"/>
          </a:xfrm>
          <a:prstGeom prst="rect">
            <a:avLst/>
          </a:prstGeom>
          <a:noFill/>
        </p:spPr>
        <p:txBody>
          <a:bodyPr wrap="square">
            <a:spAutoFit/>
          </a:bodyPr>
          <a:lstStyle/>
          <a:p>
            <a:pPr algn="l"/>
            <a:r>
              <a:rPr sz="1100" b="1">
                <a:solidFill>
                  <a:srgbClr val="85502F"/>
                </a:solidFill>
                <a:latin typeface="Inter"/>
              </a:rPr>
              <a:t>ENGAGEMENT</a:t>
            </a:r>
          </a:p>
        </p:txBody>
      </p:sp>
      <p:sp>
        <p:nvSpPr>
          <p:cNvPr id="3" name="TextBox 2"/>
          <p:cNvSpPr txBox="1"/>
          <p:nvPr/>
        </p:nvSpPr>
        <p:spPr>
          <a:xfrm>
            <a:off x="822960" y="566928"/>
            <a:ext cx="7315200" cy="548640"/>
          </a:xfrm>
          <a:prstGeom prst="rect">
            <a:avLst/>
          </a:prstGeom>
          <a:noFill/>
        </p:spPr>
        <p:txBody>
          <a:bodyPr wrap="square">
            <a:spAutoFit/>
          </a:bodyPr>
          <a:lstStyle/>
          <a:p>
            <a:pPr algn="l"/>
            <a:r>
              <a:rPr sz="2600" b="1">
                <a:solidFill>
                  <a:srgbClr val="171717"/>
                </a:solidFill>
                <a:latin typeface="Inter"/>
              </a:rPr>
              <a:t>Sustainability</a:t>
            </a:r>
          </a:p>
        </p:txBody>
      </p:sp>
      <p:sp>
        <p:nvSpPr>
          <p:cNvPr id="4" name="Rounded Rectangle 3"/>
          <p:cNvSpPr/>
          <p:nvPr/>
        </p:nvSpPr>
        <p:spPr>
          <a:xfrm>
            <a:off x="822960" y="1234440"/>
            <a:ext cx="4846320" cy="4846320"/>
          </a:xfrm>
          <a:prstGeom prst="roundRect">
            <a:avLst>
              <a:gd name="adj" fmla="val 3000"/>
            </a:avLst>
          </a:prstGeom>
          <a:noFill/>
          <a:ln w="12700">
            <a:solidFill>
              <a:srgbClr val="D4D4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ustainability.png"/>
          <p:cNvPicPr>
            <a:picLocks noChangeAspect="1"/>
          </p:cNvPicPr>
          <p:nvPr/>
        </p:nvPicPr>
        <p:blipFill>
          <a:blip r:embed="rId2"/>
          <a:stretch>
            <a:fillRect/>
          </a:stretch>
        </p:blipFill>
        <p:spPr>
          <a:xfrm>
            <a:off x="822960" y="1234440"/>
            <a:ext cx="4846320" cy="4846320"/>
          </a:xfrm>
          <a:prstGeom prst="rect">
            <a:avLst/>
          </a:prstGeom>
        </p:spPr>
      </p:pic>
      <p:sp>
        <p:nvSpPr>
          <p:cNvPr id="6" name="TextBox 5"/>
          <p:cNvSpPr txBox="1"/>
          <p:nvPr/>
        </p:nvSpPr>
        <p:spPr>
          <a:xfrm>
            <a:off x="822960" y="6135624"/>
            <a:ext cx="4846320" cy="274320"/>
          </a:xfrm>
          <a:prstGeom prst="rect">
            <a:avLst/>
          </a:prstGeom>
          <a:noFill/>
        </p:spPr>
        <p:txBody>
          <a:bodyPr wrap="square">
            <a:spAutoFit/>
          </a:bodyPr>
          <a:lstStyle/>
          <a:p>
            <a:pPr algn="ctr"/>
            <a:r>
              <a:rPr sz="1100" b="0">
                <a:solidFill>
                  <a:srgbClr val="6B6B6B"/>
                </a:solidFill>
                <a:latin typeface="Inter"/>
              </a:rPr>
              <a:t>Current drawing · drawn in code, AI-assisted</a:t>
            </a:r>
          </a:p>
        </p:txBody>
      </p:sp>
      <p:cxnSp>
        <p:nvCxnSpPr>
          <p:cNvPr id="7" name="Connector 6"/>
          <p:cNvCxnSpPr/>
          <p:nvPr/>
        </p:nvCxnSpPr>
        <p:spPr>
          <a:xfrm>
            <a:off x="6095847" y="1143000"/>
            <a:ext cx="0" cy="5394960"/>
          </a:xfrm>
          <a:prstGeom prst="line">
            <a:avLst/>
          </a:prstGeom>
          <a:ln w="15875">
            <a:solidFill>
              <a:srgbClr val="D4D4D4"/>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522415" y="1234440"/>
            <a:ext cx="4846320" cy="4846320"/>
          </a:xfrm>
          <a:prstGeom prst="roundRect">
            <a:avLst>
              <a:gd name="adj" fmla="val 3000"/>
            </a:avLst>
          </a:prstGeom>
          <a:noFill/>
          <a:ln w="19050">
            <a:solidFill>
              <a:srgbClr val="C08A68"/>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 name="Connector 8"/>
          <p:cNvCxnSpPr/>
          <p:nvPr/>
        </p:nvCxnSpPr>
        <p:spPr>
          <a:xfrm>
            <a:off x="6796735" y="5789980"/>
            <a:ext cx="4297680" cy="0"/>
          </a:xfrm>
          <a:prstGeom prst="line">
            <a:avLst/>
          </a:prstGeom>
          <a:ln w="12700">
            <a:solidFill>
              <a:srgbClr val="C08A68"/>
            </a:solidFill>
            <a:prstDash val="lgDash"/>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522415" y="6135624"/>
            <a:ext cx="4846320" cy="274320"/>
          </a:xfrm>
          <a:prstGeom prst="rect">
            <a:avLst/>
          </a:prstGeom>
          <a:noFill/>
        </p:spPr>
        <p:txBody>
          <a:bodyPr wrap="square">
            <a:spAutoFit/>
          </a:bodyPr>
          <a:lstStyle/>
          <a:p>
            <a:pPr algn="ctr"/>
            <a:r>
              <a:rPr sz="1100" b="0">
                <a:solidFill>
                  <a:srgbClr val="85502F"/>
                </a:solidFill>
                <a:latin typeface="Inter"/>
              </a:rPr>
              <a:t>Your drawing · same frame, same baseline, no words</a:t>
            </a:r>
          </a:p>
        </p:txBody>
      </p:sp>
      <p:sp>
        <p:nvSpPr>
          <p:cNvPr id="11" name="TextBox 10"/>
          <p:cNvSpPr txBox="1"/>
          <p:nvPr/>
        </p:nvSpPr>
        <p:spPr>
          <a:xfrm>
            <a:off x="822960" y="6473952"/>
            <a:ext cx="10515600" cy="320040"/>
          </a:xfrm>
          <a:prstGeom prst="rect">
            <a:avLst/>
          </a:prstGeom>
          <a:noFill/>
        </p:spPr>
        <p:txBody>
          <a:bodyPr wrap="square">
            <a:spAutoFit/>
          </a:bodyPr>
          <a:lstStyle/>
          <a:p>
            <a:pPr algn="l"/>
            <a:r>
              <a:rPr sz="1000" b="0">
                <a:solidFill>
                  <a:srgbClr val="6B6B6B"/>
                </a:solidFill>
                <a:latin typeface="Inter"/>
              </a:rPr>
              <a:t>/sustainability/ · 1000 x 1000 px, transparent · export the right frame as PNG with the same name: sustainability.png</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320040"/>
            <a:ext cx="7315200" cy="365760"/>
          </a:xfrm>
          <a:prstGeom prst="rect">
            <a:avLst/>
          </a:prstGeom>
          <a:noFill/>
        </p:spPr>
        <p:txBody>
          <a:bodyPr wrap="square">
            <a:spAutoFit/>
          </a:bodyPr>
          <a:lstStyle/>
          <a:p>
            <a:pPr algn="l"/>
            <a:r>
              <a:rPr sz="1100" b="1">
                <a:solidFill>
                  <a:srgbClr val="85502F"/>
                </a:solidFill>
                <a:latin typeface="Inter"/>
              </a:rPr>
              <a:t>ENGAGEMENT</a:t>
            </a:r>
          </a:p>
        </p:txBody>
      </p:sp>
      <p:sp>
        <p:nvSpPr>
          <p:cNvPr id="3" name="TextBox 2"/>
          <p:cNvSpPr txBox="1"/>
          <p:nvPr/>
        </p:nvSpPr>
        <p:spPr>
          <a:xfrm>
            <a:off x="822960" y="566928"/>
            <a:ext cx="7315200" cy="548640"/>
          </a:xfrm>
          <a:prstGeom prst="rect">
            <a:avLst/>
          </a:prstGeom>
          <a:noFill/>
        </p:spPr>
        <p:txBody>
          <a:bodyPr wrap="square">
            <a:spAutoFit/>
          </a:bodyPr>
          <a:lstStyle/>
          <a:p>
            <a:pPr algn="l"/>
            <a:r>
              <a:rPr sz="2600" b="1">
                <a:solidFill>
                  <a:srgbClr val="171717"/>
                </a:solidFill>
                <a:latin typeface="Inter"/>
              </a:rPr>
              <a:t>Laws and Regulations</a:t>
            </a:r>
          </a:p>
        </p:txBody>
      </p:sp>
      <p:sp>
        <p:nvSpPr>
          <p:cNvPr id="4" name="Rounded Rectangle 3"/>
          <p:cNvSpPr/>
          <p:nvPr/>
        </p:nvSpPr>
        <p:spPr>
          <a:xfrm>
            <a:off x="822960" y="1234440"/>
            <a:ext cx="4846320" cy="4846320"/>
          </a:xfrm>
          <a:prstGeom prst="roundRect">
            <a:avLst>
              <a:gd name="adj" fmla="val 3000"/>
            </a:avLst>
          </a:prstGeom>
          <a:noFill/>
          <a:ln w="12700">
            <a:solidFill>
              <a:srgbClr val="D4D4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aws-and-regulations.png"/>
          <p:cNvPicPr>
            <a:picLocks noChangeAspect="1"/>
          </p:cNvPicPr>
          <p:nvPr/>
        </p:nvPicPr>
        <p:blipFill>
          <a:blip r:embed="rId2"/>
          <a:stretch>
            <a:fillRect/>
          </a:stretch>
        </p:blipFill>
        <p:spPr>
          <a:xfrm>
            <a:off x="822960" y="1234440"/>
            <a:ext cx="4846320" cy="4846320"/>
          </a:xfrm>
          <a:prstGeom prst="rect">
            <a:avLst/>
          </a:prstGeom>
        </p:spPr>
      </p:pic>
      <p:sp>
        <p:nvSpPr>
          <p:cNvPr id="6" name="TextBox 5"/>
          <p:cNvSpPr txBox="1"/>
          <p:nvPr/>
        </p:nvSpPr>
        <p:spPr>
          <a:xfrm>
            <a:off x="822960" y="6135624"/>
            <a:ext cx="4846320" cy="274320"/>
          </a:xfrm>
          <a:prstGeom prst="rect">
            <a:avLst/>
          </a:prstGeom>
          <a:noFill/>
        </p:spPr>
        <p:txBody>
          <a:bodyPr wrap="square">
            <a:spAutoFit/>
          </a:bodyPr>
          <a:lstStyle/>
          <a:p>
            <a:pPr algn="ctr"/>
            <a:r>
              <a:rPr sz="1100" b="0">
                <a:solidFill>
                  <a:srgbClr val="6B6B6B"/>
                </a:solidFill>
                <a:latin typeface="Inter"/>
              </a:rPr>
              <a:t>Current drawing · drawn in code, AI-assisted</a:t>
            </a:r>
          </a:p>
        </p:txBody>
      </p:sp>
      <p:cxnSp>
        <p:nvCxnSpPr>
          <p:cNvPr id="7" name="Connector 6"/>
          <p:cNvCxnSpPr/>
          <p:nvPr/>
        </p:nvCxnSpPr>
        <p:spPr>
          <a:xfrm>
            <a:off x="6095847" y="1143000"/>
            <a:ext cx="0" cy="5394960"/>
          </a:xfrm>
          <a:prstGeom prst="line">
            <a:avLst/>
          </a:prstGeom>
          <a:ln w="15875">
            <a:solidFill>
              <a:srgbClr val="D4D4D4"/>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522415" y="1234440"/>
            <a:ext cx="4846320" cy="4846320"/>
          </a:xfrm>
          <a:prstGeom prst="roundRect">
            <a:avLst>
              <a:gd name="adj" fmla="val 3000"/>
            </a:avLst>
          </a:prstGeom>
          <a:noFill/>
          <a:ln w="19050">
            <a:solidFill>
              <a:srgbClr val="C08A68"/>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 name="Connector 8"/>
          <p:cNvCxnSpPr/>
          <p:nvPr/>
        </p:nvCxnSpPr>
        <p:spPr>
          <a:xfrm>
            <a:off x="6796735" y="5789980"/>
            <a:ext cx="4297680" cy="0"/>
          </a:xfrm>
          <a:prstGeom prst="line">
            <a:avLst/>
          </a:prstGeom>
          <a:ln w="12700">
            <a:solidFill>
              <a:srgbClr val="C08A68"/>
            </a:solidFill>
            <a:prstDash val="lgDash"/>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522415" y="6135624"/>
            <a:ext cx="4846320" cy="274320"/>
          </a:xfrm>
          <a:prstGeom prst="rect">
            <a:avLst/>
          </a:prstGeom>
          <a:noFill/>
        </p:spPr>
        <p:txBody>
          <a:bodyPr wrap="square">
            <a:spAutoFit/>
          </a:bodyPr>
          <a:lstStyle/>
          <a:p>
            <a:pPr algn="ctr"/>
            <a:r>
              <a:rPr sz="1100" b="0">
                <a:solidFill>
                  <a:srgbClr val="85502F"/>
                </a:solidFill>
                <a:latin typeface="Inter"/>
              </a:rPr>
              <a:t>Your drawing · same frame, same baseline, no words</a:t>
            </a:r>
          </a:p>
        </p:txBody>
      </p:sp>
      <p:sp>
        <p:nvSpPr>
          <p:cNvPr id="11" name="TextBox 10"/>
          <p:cNvSpPr txBox="1"/>
          <p:nvPr/>
        </p:nvSpPr>
        <p:spPr>
          <a:xfrm>
            <a:off x="822960" y="6473952"/>
            <a:ext cx="10515600" cy="320040"/>
          </a:xfrm>
          <a:prstGeom prst="rect">
            <a:avLst/>
          </a:prstGeom>
          <a:noFill/>
        </p:spPr>
        <p:txBody>
          <a:bodyPr wrap="square">
            <a:spAutoFit/>
          </a:bodyPr>
          <a:lstStyle/>
          <a:p>
            <a:pPr algn="l"/>
            <a:r>
              <a:rPr sz="1000" b="0">
                <a:solidFill>
                  <a:srgbClr val="6B6B6B"/>
                </a:solidFill>
                <a:latin typeface="Inter"/>
              </a:rPr>
              <a:t>/laws-and-regulations/ · 1000 x 1000 px, transparent · export the right frame as PNG with the same name: laws-and-regulations.png</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320040"/>
            <a:ext cx="7315200" cy="365760"/>
          </a:xfrm>
          <a:prstGeom prst="rect">
            <a:avLst/>
          </a:prstGeom>
          <a:noFill/>
        </p:spPr>
        <p:txBody>
          <a:bodyPr wrap="square">
            <a:spAutoFit/>
          </a:bodyPr>
          <a:lstStyle/>
          <a:p>
            <a:pPr algn="l"/>
            <a:r>
              <a:rPr sz="1100" b="1">
                <a:solidFill>
                  <a:srgbClr val="85502F"/>
                </a:solidFill>
                <a:latin typeface="Inter"/>
              </a:rPr>
              <a:t>ENGAGEMENT</a:t>
            </a:r>
          </a:p>
        </p:txBody>
      </p:sp>
      <p:sp>
        <p:nvSpPr>
          <p:cNvPr id="3" name="TextBox 2"/>
          <p:cNvSpPr txBox="1"/>
          <p:nvPr/>
        </p:nvSpPr>
        <p:spPr>
          <a:xfrm>
            <a:off x="822960" y="566928"/>
            <a:ext cx="7315200" cy="548640"/>
          </a:xfrm>
          <a:prstGeom prst="rect">
            <a:avLst/>
          </a:prstGeom>
          <a:noFill/>
        </p:spPr>
        <p:txBody>
          <a:bodyPr wrap="square">
            <a:spAutoFit/>
          </a:bodyPr>
          <a:lstStyle/>
          <a:p>
            <a:pPr algn="l"/>
            <a:r>
              <a:rPr sz="2600" b="1">
                <a:solidFill>
                  <a:srgbClr val="171717"/>
                </a:solidFill>
                <a:latin typeface="Inter"/>
              </a:rPr>
              <a:t>Geospatial Analysis</a:t>
            </a:r>
          </a:p>
        </p:txBody>
      </p:sp>
      <p:sp>
        <p:nvSpPr>
          <p:cNvPr id="4" name="Rounded Rectangle 3"/>
          <p:cNvSpPr/>
          <p:nvPr/>
        </p:nvSpPr>
        <p:spPr>
          <a:xfrm>
            <a:off x="822960" y="1234440"/>
            <a:ext cx="4846320" cy="4846320"/>
          </a:xfrm>
          <a:prstGeom prst="roundRect">
            <a:avLst>
              <a:gd name="adj" fmla="val 3000"/>
            </a:avLst>
          </a:prstGeom>
          <a:noFill/>
          <a:ln w="12700">
            <a:solidFill>
              <a:srgbClr val="D4D4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geospatial-analysis.png"/>
          <p:cNvPicPr>
            <a:picLocks noChangeAspect="1"/>
          </p:cNvPicPr>
          <p:nvPr/>
        </p:nvPicPr>
        <p:blipFill>
          <a:blip r:embed="rId2"/>
          <a:stretch>
            <a:fillRect/>
          </a:stretch>
        </p:blipFill>
        <p:spPr>
          <a:xfrm>
            <a:off x="822960" y="1234440"/>
            <a:ext cx="4846320" cy="4846320"/>
          </a:xfrm>
          <a:prstGeom prst="rect">
            <a:avLst/>
          </a:prstGeom>
        </p:spPr>
      </p:pic>
      <p:sp>
        <p:nvSpPr>
          <p:cNvPr id="6" name="TextBox 5"/>
          <p:cNvSpPr txBox="1"/>
          <p:nvPr/>
        </p:nvSpPr>
        <p:spPr>
          <a:xfrm>
            <a:off x="822960" y="6135624"/>
            <a:ext cx="4846320" cy="274320"/>
          </a:xfrm>
          <a:prstGeom prst="rect">
            <a:avLst/>
          </a:prstGeom>
          <a:noFill/>
        </p:spPr>
        <p:txBody>
          <a:bodyPr wrap="square">
            <a:spAutoFit/>
          </a:bodyPr>
          <a:lstStyle/>
          <a:p>
            <a:pPr algn="ctr"/>
            <a:r>
              <a:rPr sz="1100" b="0">
                <a:solidFill>
                  <a:srgbClr val="6B6B6B"/>
                </a:solidFill>
                <a:latin typeface="Inter"/>
              </a:rPr>
              <a:t>Current drawing · drawn in code, AI-assisted</a:t>
            </a:r>
          </a:p>
        </p:txBody>
      </p:sp>
      <p:cxnSp>
        <p:nvCxnSpPr>
          <p:cNvPr id="7" name="Connector 6"/>
          <p:cNvCxnSpPr/>
          <p:nvPr/>
        </p:nvCxnSpPr>
        <p:spPr>
          <a:xfrm>
            <a:off x="6095847" y="1143000"/>
            <a:ext cx="0" cy="5394960"/>
          </a:xfrm>
          <a:prstGeom prst="line">
            <a:avLst/>
          </a:prstGeom>
          <a:ln w="15875">
            <a:solidFill>
              <a:srgbClr val="D4D4D4"/>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522415" y="1234440"/>
            <a:ext cx="4846320" cy="4846320"/>
          </a:xfrm>
          <a:prstGeom prst="roundRect">
            <a:avLst>
              <a:gd name="adj" fmla="val 3000"/>
            </a:avLst>
          </a:prstGeom>
          <a:noFill/>
          <a:ln w="19050">
            <a:solidFill>
              <a:srgbClr val="C08A68"/>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 name="Connector 8"/>
          <p:cNvCxnSpPr/>
          <p:nvPr/>
        </p:nvCxnSpPr>
        <p:spPr>
          <a:xfrm>
            <a:off x="6796735" y="5789980"/>
            <a:ext cx="4297680" cy="0"/>
          </a:xfrm>
          <a:prstGeom prst="line">
            <a:avLst/>
          </a:prstGeom>
          <a:ln w="12700">
            <a:solidFill>
              <a:srgbClr val="C08A68"/>
            </a:solidFill>
            <a:prstDash val="lgDash"/>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522415" y="6135624"/>
            <a:ext cx="4846320" cy="274320"/>
          </a:xfrm>
          <a:prstGeom prst="rect">
            <a:avLst/>
          </a:prstGeom>
          <a:noFill/>
        </p:spPr>
        <p:txBody>
          <a:bodyPr wrap="square">
            <a:spAutoFit/>
          </a:bodyPr>
          <a:lstStyle/>
          <a:p>
            <a:pPr algn="ctr"/>
            <a:r>
              <a:rPr sz="1100" b="0">
                <a:solidFill>
                  <a:srgbClr val="85502F"/>
                </a:solidFill>
                <a:latin typeface="Inter"/>
              </a:rPr>
              <a:t>Your drawing · same frame, same baseline, no words</a:t>
            </a:r>
          </a:p>
        </p:txBody>
      </p:sp>
      <p:sp>
        <p:nvSpPr>
          <p:cNvPr id="11" name="TextBox 10"/>
          <p:cNvSpPr txBox="1"/>
          <p:nvPr/>
        </p:nvSpPr>
        <p:spPr>
          <a:xfrm>
            <a:off x="822960" y="6473952"/>
            <a:ext cx="10515600" cy="320040"/>
          </a:xfrm>
          <a:prstGeom prst="rect">
            <a:avLst/>
          </a:prstGeom>
          <a:noFill/>
        </p:spPr>
        <p:txBody>
          <a:bodyPr wrap="square">
            <a:spAutoFit/>
          </a:bodyPr>
          <a:lstStyle/>
          <a:p>
            <a:pPr algn="l"/>
            <a:r>
              <a:rPr sz="1000" b="0">
                <a:solidFill>
                  <a:srgbClr val="6B6B6B"/>
                </a:solidFill>
                <a:latin typeface="Inter"/>
              </a:rPr>
              <a:t>/geospatial-analysis/ · 1000 x 1000 px, transparent · export the right frame as PNG with the same name: geospatial-analysis.png</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320040"/>
            <a:ext cx="7315200" cy="365760"/>
          </a:xfrm>
          <a:prstGeom prst="rect">
            <a:avLst/>
          </a:prstGeom>
          <a:noFill/>
        </p:spPr>
        <p:txBody>
          <a:bodyPr wrap="square">
            <a:spAutoFit/>
          </a:bodyPr>
          <a:lstStyle/>
          <a:p>
            <a:pPr algn="l"/>
            <a:r>
              <a:rPr sz="1100" b="1">
                <a:solidFill>
                  <a:srgbClr val="85502F"/>
                </a:solidFill>
                <a:latin typeface="Inter"/>
              </a:rPr>
              <a:t>ENGAGEMENT</a:t>
            </a:r>
          </a:p>
        </p:txBody>
      </p:sp>
      <p:sp>
        <p:nvSpPr>
          <p:cNvPr id="3" name="TextBox 2"/>
          <p:cNvSpPr txBox="1"/>
          <p:nvPr/>
        </p:nvSpPr>
        <p:spPr>
          <a:xfrm>
            <a:off x="822960" y="566928"/>
            <a:ext cx="7315200" cy="548640"/>
          </a:xfrm>
          <a:prstGeom prst="rect">
            <a:avLst/>
          </a:prstGeom>
          <a:noFill/>
        </p:spPr>
        <p:txBody>
          <a:bodyPr wrap="square">
            <a:spAutoFit/>
          </a:bodyPr>
          <a:lstStyle/>
          <a:p>
            <a:pPr algn="l"/>
            <a:r>
              <a:rPr sz="2600" b="1">
                <a:solidFill>
                  <a:srgbClr val="171717"/>
                </a:solidFill>
                <a:latin typeface="Inter"/>
              </a:rPr>
              <a:t>Data Physicalization</a:t>
            </a:r>
          </a:p>
        </p:txBody>
      </p:sp>
      <p:sp>
        <p:nvSpPr>
          <p:cNvPr id="4" name="Rounded Rectangle 3"/>
          <p:cNvSpPr/>
          <p:nvPr/>
        </p:nvSpPr>
        <p:spPr>
          <a:xfrm>
            <a:off x="822960" y="1234440"/>
            <a:ext cx="4846320" cy="4846320"/>
          </a:xfrm>
          <a:prstGeom prst="roundRect">
            <a:avLst>
              <a:gd name="adj" fmla="val 3000"/>
            </a:avLst>
          </a:prstGeom>
          <a:noFill/>
          <a:ln w="12700">
            <a:solidFill>
              <a:srgbClr val="D4D4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data-physicalization.png"/>
          <p:cNvPicPr>
            <a:picLocks noChangeAspect="1"/>
          </p:cNvPicPr>
          <p:nvPr/>
        </p:nvPicPr>
        <p:blipFill>
          <a:blip r:embed="rId2"/>
          <a:stretch>
            <a:fillRect/>
          </a:stretch>
        </p:blipFill>
        <p:spPr>
          <a:xfrm>
            <a:off x="822960" y="1234440"/>
            <a:ext cx="4846320" cy="4846320"/>
          </a:xfrm>
          <a:prstGeom prst="rect">
            <a:avLst/>
          </a:prstGeom>
        </p:spPr>
      </p:pic>
      <p:sp>
        <p:nvSpPr>
          <p:cNvPr id="6" name="TextBox 5"/>
          <p:cNvSpPr txBox="1"/>
          <p:nvPr/>
        </p:nvSpPr>
        <p:spPr>
          <a:xfrm>
            <a:off x="822960" y="6135624"/>
            <a:ext cx="4846320" cy="274320"/>
          </a:xfrm>
          <a:prstGeom prst="rect">
            <a:avLst/>
          </a:prstGeom>
          <a:noFill/>
        </p:spPr>
        <p:txBody>
          <a:bodyPr wrap="square">
            <a:spAutoFit/>
          </a:bodyPr>
          <a:lstStyle/>
          <a:p>
            <a:pPr algn="ctr"/>
            <a:r>
              <a:rPr sz="1100" b="0">
                <a:solidFill>
                  <a:srgbClr val="6B6B6B"/>
                </a:solidFill>
                <a:latin typeface="Inter"/>
              </a:rPr>
              <a:t>Current drawing · drawn in code, AI-assisted</a:t>
            </a:r>
          </a:p>
        </p:txBody>
      </p:sp>
      <p:cxnSp>
        <p:nvCxnSpPr>
          <p:cNvPr id="7" name="Connector 6"/>
          <p:cNvCxnSpPr/>
          <p:nvPr/>
        </p:nvCxnSpPr>
        <p:spPr>
          <a:xfrm>
            <a:off x="6095847" y="1143000"/>
            <a:ext cx="0" cy="5394960"/>
          </a:xfrm>
          <a:prstGeom prst="line">
            <a:avLst/>
          </a:prstGeom>
          <a:ln w="15875">
            <a:solidFill>
              <a:srgbClr val="D4D4D4"/>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522415" y="1234440"/>
            <a:ext cx="4846320" cy="4846320"/>
          </a:xfrm>
          <a:prstGeom prst="roundRect">
            <a:avLst>
              <a:gd name="adj" fmla="val 3000"/>
            </a:avLst>
          </a:prstGeom>
          <a:noFill/>
          <a:ln w="19050">
            <a:solidFill>
              <a:srgbClr val="C08A68"/>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 name="Connector 8"/>
          <p:cNvCxnSpPr/>
          <p:nvPr/>
        </p:nvCxnSpPr>
        <p:spPr>
          <a:xfrm>
            <a:off x="6796735" y="5789980"/>
            <a:ext cx="4297680" cy="0"/>
          </a:xfrm>
          <a:prstGeom prst="line">
            <a:avLst/>
          </a:prstGeom>
          <a:ln w="12700">
            <a:solidFill>
              <a:srgbClr val="C08A68"/>
            </a:solidFill>
            <a:prstDash val="lgDash"/>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522415" y="6135624"/>
            <a:ext cx="4846320" cy="274320"/>
          </a:xfrm>
          <a:prstGeom prst="rect">
            <a:avLst/>
          </a:prstGeom>
          <a:noFill/>
        </p:spPr>
        <p:txBody>
          <a:bodyPr wrap="square">
            <a:spAutoFit/>
          </a:bodyPr>
          <a:lstStyle/>
          <a:p>
            <a:pPr algn="ctr"/>
            <a:r>
              <a:rPr sz="1100" b="0">
                <a:solidFill>
                  <a:srgbClr val="85502F"/>
                </a:solidFill>
                <a:latin typeface="Inter"/>
              </a:rPr>
              <a:t>Your drawing · same frame, same baseline, no words</a:t>
            </a:r>
          </a:p>
        </p:txBody>
      </p:sp>
      <p:sp>
        <p:nvSpPr>
          <p:cNvPr id="11" name="TextBox 10"/>
          <p:cNvSpPr txBox="1"/>
          <p:nvPr/>
        </p:nvSpPr>
        <p:spPr>
          <a:xfrm>
            <a:off x="822960" y="6473952"/>
            <a:ext cx="10515600" cy="320040"/>
          </a:xfrm>
          <a:prstGeom prst="rect">
            <a:avLst/>
          </a:prstGeom>
          <a:noFill/>
        </p:spPr>
        <p:txBody>
          <a:bodyPr wrap="square">
            <a:spAutoFit/>
          </a:bodyPr>
          <a:lstStyle/>
          <a:p>
            <a:pPr algn="l"/>
            <a:r>
              <a:rPr sz="1000" b="0">
                <a:solidFill>
                  <a:srgbClr val="6B6B6B"/>
                </a:solidFill>
                <a:latin typeface="Inter"/>
              </a:rPr>
              <a:t>/data-physicalization/ · 1000 x 1000 px, transparent · export the right frame as PNG with the same name: data-physicalization.png</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320040"/>
            <a:ext cx="7315200" cy="365760"/>
          </a:xfrm>
          <a:prstGeom prst="rect">
            <a:avLst/>
          </a:prstGeom>
          <a:noFill/>
        </p:spPr>
        <p:txBody>
          <a:bodyPr wrap="square">
            <a:spAutoFit/>
          </a:bodyPr>
          <a:lstStyle/>
          <a:p>
            <a:pPr algn="l"/>
            <a:r>
              <a:rPr sz="1100" b="1">
                <a:solidFill>
                  <a:srgbClr val="845C0F"/>
                </a:solidFill>
                <a:latin typeface="Inter"/>
              </a:rPr>
              <a:t>TEAM</a:t>
            </a:r>
          </a:p>
        </p:txBody>
      </p:sp>
      <p:sp>
        <p:nvSpPr>
          <p:cNvPr id="3" name="TextBox 2"/>
          <p:cNvSpPr txBox="1"/>
          <p:nvPr/>
        </p:nvSpPr>
        <p:spPr>
          <a:xfrm>
            <a:off x="822960" y="566928"/>
            <a:ext cx="7315200" cy="548640"/>
          </a:xfrm>
          <a:prstGeom prst="rect">
            <a:avLst/>
          </a:prstGeom>
          <a:noFill/>
        </p:spPr>
        <p:txBody>
          <a:bodyPr wrap="square">
            <a:spAutoFit/>
          </a:bodyPr>
          <a:lstStyle/>
          <a:p>
            <a:pPr algn="l"/>
            <a:r>
              <a:rPr sz="2600" b="1">
                <a:solidFill>
                  <a:srgbClr val="171717"/>
                </a:solidFill>
                <a:latin typeface="Inter"/>
              </a:rPr>
              <a:t>Members</a:t>
            </a:r>
          </a:p>
        </p:txBody>
      </p:sp>
      <p:sp>
        <p:nvSpPr>
          <p:cNvPr id="4" name="Rounded Rectangle 3"/>
          <p:cNvSpPr/>
          <p:nvPr/>
        </p:nvSpPr>
        <p:spPr>
          <a:xfrm>
            <a:off x="822960" y="1234440"/>
            <a:ext cx="4846320" cy="4846320"/>
          </a:xfrm>
          <a:prstGeom prst="roundRect">
            <a:avLst>
              <a:gd name="adj" fmla="val 3000"/>
            </a:avLst>
          </a:prstGeom>
          <a:noFill/>
          <a:ln w="12700">
            <a:solidFill>
              <a:srgbClr val="D4D4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eam.png"/>
          <p:cNvPicPr>
            <a:picLocks noChangeAspect="1"/>
          </p:cNvPicPr>
          <p:nvPr/>
        </p:nvPicPr>
        <p:blipFill>
          <a:blip r:embed="rId2"/>
          <a:stretch>
            <a:fillRect/>
          </a:stretch>
        </p:blipFill>
        <p:spPr>
          <a:xfrm>
            <a:off x="822960" y="1234440"/>
            <a:ext cx="4846320" cy="4846320"/>
          </a:xfrm>
          <a:prstGeom prst="rect">
            <a:avLst/>
          </a:prstGeom>
        </p:spPr>
      </p:pic>
      <p:sp>
        <p:nvSpPr>
          <p:cNvPr id="6" name="TextBox 5"/>
          <p:cNvSpPr txBox="1"/>
          <p:nvPr/>
        </p:nvSpPr>
        <p:spPr>
          <a:xfrm>
            <a:off x="822960" y="6135624"/>
            <a:ext cx="4846320" cy="274320"/>
          </a:xfrm>
          <a:prstGeom prst="rect">
            <a:avLst/>
          </a:prstGeom>
          <a:noFill/>
        </p:spPr>
        <p:txBody>
          <a:bodyPr wrap="square">
            <a:spAutoFit/>
          </a:bodyPr>
          <a:lstStyle/>
          <a:p>
            <a:pPr algn="ctr"/>
            <a:r>
              <a:rPr sz="1100" b="0">
                <a:solidFill>
                  <a:srgbClr val="6B6B6B"/>
                </a:solidFill>
                <a:latin typeface="Inter"/>
              </a:rPr>
              <a:t>Current drawing · drawn in code, AI-assisted</a:t>
            </a:r>
          </a:p>
        </p:txBody>
      </p:sp>
      <p:cxnSp>
        <p:nvCxnSpPr>
          <p:cNvPr id="7" name="Connector 6"/>
          <p:cNvCxnSpPr/>
          <p:nvPr/>
        </p:nvCxnSpPr>
        <p:spPr>
          <a:xfrm>
            <a:off x="6095847" y="1143000"/>
            <a:ext cx="0" cy="5394960"/>
          </a:xfrm>
          <a:prstGeom prst="line">
            <a:avLst/>
          </a:prstGeom>
          <a:ln w="15875">
            <a:solidFill>
              <a:srgbClr val="D4D4D4"/>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522415" y="1234440"/>
            <a:ext cx="4846320" cy="4846320"/>
          </a:xfrm>
          <a:prstGeom prst="roundRect">
            <a:avLst>
              <a:gd name="adj" fmla="val 3000"/>
            </a:avLst>
          </a:prstGeom>
          <a:noFill/>
          <a:ln w="19050">
            <a:solidFill>
              <a:srgbClr val="D99A1E"/>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 name="Connector 8"/>
          <p:cNvCxnSpPr/>
          <p:nvPr/>
        </p:nvCxnSpPr>
        <p:spPr>
          <a:xfrm>
            <a:off x="6796735" y="5789980"/>
            <a:ext cx="4297680" cy="0"/>
          </a:xfrm>
          <a:prstGeom prst="line">
            <a:avLst/>
          </a:prstGeom>
          <a:ln w="12700">
            <a:solidFill>
              <a:srgbClr val="D99A1E"/>
            </a:solidFill>
            <a:prstDash val="lgDash"/>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522415" y="6135624"/>
            <a:ext cx="4846320" cy="274320"/>
          </a:xfrm>
          <a:prstGeom prst="rect">
            <a:avLst/>
          </a:prstGeom>
          <a:noFill/>
        </p:spPr>
        <p:txBody>
          <a:bodyPr wrap="square">
            <a:spAutoFit/>
          </a:bodyPr>
          <a:lstStyle/>
          <a:p>
            <a:pPr algn="ctr"/>
            <a:r>
              <a:rPr sz="1100" b="0">
                <a:solidFill>
                  <a:srgbClr val="845C0F"/>
                </a:solidFill>
                <a:latin typeface="Inter"/>
              </a:rPr>
              <a:t>Your drawing · same frame, same baseline, no words</a:t>
            </a:r>
          </a:p>
        </p:txBody>
      </p:sp>
      <p:sp>
        <p:nvSpPr>
          <p:cNvPr id="11" name="TextBox 10"/>
          <p:cNvSpPr txBox="1"/>
          <p:nvPr/>
        </p:nvSpPr>
        <p:spPr>
          <a:xfrm>
            <a:off x="822960" y="6473952"/>
            <a:ext cx="10515600" cy="320040"/>
          </a:xfrm>
          <a:prstGeom prst="rect">
            <a:avLst/>
          </a:prstGeom>
          <a:noFill/>
        </p:spPr>
        <p:txBody>
          <a:bodyPr wrap="square">
            <a:spAutoFit/>
          </a:bodyPr>
          <a:lstStyle/>
          <a:p>
            <a:pPr algn="l"/>
            <a:r>
              <a:rPr sz="1000" b="0">
                <a:solidFill>
                  <a:srgbClr val="6B6B6B"/>
                </a:solidFill>
                <a:latin typeface="Inter"/>
              </a:rPr>
              <a:t>/team/ · 1000 x 1000 px, transparent · export the right frame as PNG with the same name: team.png</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320040"/>
            <a:ext cx="7315200" cy="365760"/>
          </a:xfrm>
          <a:prstGeom prst="rect">
            <a:avLst/>
          </a:prstGeom>
          <a:noFill/>
        </p:spPr>
        <p:txBody>
          <a:bodyPr wrap="square">
            <a:spAutoFit/>
          </a:bodyPr>
          <a:lstStyle/>
          <a:p>
            <a:pPr algn="l"/>
            <a:r>
              <a:rPr sz="1100" b="1">
                <a:solidFill>
                  <a:srgbClr val="845C0F"/>
                </a:solidFill>
                <a:latin typeface="Inter"/>
              </a:rPr>
              <a:t>TEAM</a:t>
            </a:r>
          </a:p>
        </p:txBody>
      </p:sp>
      <p:sp>
        <p:nvSpPr>
          <p:cNvPr id="3" name="TextBox 2"/>
          <p:cNvSpPr txBox="1"/>
          <p:nvPr/>
        </p:nvSpPr>
        <p:spPr>
          <a:xfrm>
            <a:off x="822960" y="566928"/>
            <a:ext cx="7315200" cy="548640"/>
          </a:xfrm>
          <a:prstGeom prst="rect">
            <a:avLst/>
          </a:prstGeom>
          <a:noFill/>
        </p:spPr>
        <p:txBody>
          <a:bodyPr wrap="square">
            <a:spAutoFit/>
          </a:bodyPr>
          <a:lstStyle/>
          <a:p>
            <a:pPr algn="l"/>
            <a:r>
              <a:rPr sz="2600" b="1">
                <a:solidFill>
                  <a:srgbClr val="171717"/>
                </a:solidFill>
                <a:latin typeface="Inter"/>
              </a:rPr>
              <a:t>Attribution</a:t>
            </a:r>
          </a:p>
        </p:txBody>
      </p:sp>
      <p:sp>
        <p:nvSpPr>
          <p:cNvPr id="4" name="Rounded Rectangle 3"/>
          <p:cNvSpPr/>
          <p:nvPr/>
        </p:nvSpPr>
        <p:spPr>
          <a:xfrm>
            <a:off x="822960" y="1234440"/>
            <a:ext cx="4846320" cy="4846320"/>
          </a:xfrm>
          <a:prstGeom prst="roundRect">
            <a:avLst>
              <a:gd name="adj" fmla="val 3000"/>
            </a:avLst>
          </a:prstGeom>
          <a:noFill/>
          <a:ln w="12700">
            <a:solidFill>
              <a:srgbClr val="D4D4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attributions.png"/>
          <p:cNvPicPr>
            <a:picLocks noChangeAspect="1"/>
          </p:cNvPicPr>
          <p:nvPr/>
        </p:nvPicPr>
        <p:blipFill>
          <a:blip r:embed="rId2"/>
          <a:stretch>
            <a:fillRect/>
          </a:stretch>
        </p:blipFill>
        <p:spPr>
          <a:xfrm>
            <a:off x="822960" y="1234440"/>
            <a:ext cx="4846320" cy="4846320"/>
          </a:xfrm>
          <a:prstGeom prst="rect">
            <a:avLst/>
          </a:prstGeom>
        </p:spPr>
      </p:pic>
      <p:sp>
        <p:nvSpPr>
          <p:cNvPr id="6" name="TextBox 5"/>
          <p:cNvSpPr txBox="1"/>
          <p:nvPr/>
        </p:nvSpPr>
        <p:spPr>
          <a:xfrm>
            <a:off x="822960" y="6135624"/>
            <a:ext cx="4846320" cy="274320"/>
          </a:xfrm>
          <a:prstGeom prst="rect">
            <a:avLst/>
          </a:prstGeom>
          <a:noFill/>
        </p:spPr>
        <p:txBody>
          <a:bodyPr wrap="square">
            <a:spAutoFit/>
          </a:bodyPr>
          <a:lstStyle/>
          <a:p>
            <a:pPr algn="ctr"/>
            <a:r>
              <a:rPr sz="1100" b="0">
                <a:solidFill>
                  <a:srgbClr val="6B6B6B"/>
                </a:solidFill>
                <a:latin typeface="Inter"/>
              </a:rPr>
              <a:t>Current drawing · drawn in code, AI-assisted</a:t>
            </a:r>
          </a:p>
        </p:txBody>
      </p:sp>
      <p:cxnSp>
        <p:nvCxnSpPr>
          <p:cNvPr id="7" name="Connector 6"/>
          <p:cNvCxnSpPr/>
          <p:nvPr/>
        </p:nvCxnSpPr>
        <p:spPr>
          <a:xfrm>
            <a:off x="6095847" y="1143000"/>
            <a:ext cx="0" cy="5394960"/>
          </a:xfrm>
          <a:prstGeom prst="line">
            <a:avLst/>
          </a:prstGeom>
          <a:ln w="15875">
            <a:solidFill>
              <a:srgbClr val="D4D4D4"/>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522415" y="1234440"/>
            <a:ext cx="4846320" cy="4846320"/>
          </a:xfrm>
          <a:prstGeom prst="roundRect">
            <a:avLst>
              <a:gd name="adj" fmla="val 3000"/>
            </a:avLst>
          </a:prstGeom>
          <a:noFill/>
          <a:ln w="19050">
            <a:solidFill>
              <a:srgbClr val="D99A1E"/>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 name="Connector 8"/>
          <p:cNvCxnSpPr/>
          <p:nvPr/>
        </p:nvCxnSpPr>
        <p:spPr>
          <a:xfrm>
            <a:off x="6796735" y="5789980"/>
            <a:ext cx="4297680" cy="0"/>
          </a:xfrm>
          <a:prstGeom prst="line">
            <a:avLst/>
          </a:prstGeom>
          <a:ln w="12700">
            <a:solidFill>
              <a:srgbClr val="D99A1E"/>
            </a:solidFill>
            <a:prstDash val="lgDash"/>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522415" y="6135624"/>
            <a:ext cx="4846320" cy="274320"/>
          </a:xfrm>
          <a:prstGeom prst="rect">
            <a:avLst/>
          </a:prstGeom>
          <a:noFill/>
        </p:spPr>
        <p:txBody>
          <a:bodyPr wrap="square">
            <a:spAutoFit/>
          </a:bodyPr>
          <a:lstStyle/>
          <a:p>
            <a:pPr algn="ctr"/>
            <a:r>
              <a:rPr sz="1100" b="0">
                <a:solidFill>
                  <a:srgbClr val="845C0F"/>
                </a:solidFill>
                <a:latin typeface="Inter"/>
              </a:rPr>
              <a:t>Your drawing · same frame, same baseline, no words</a:t>
            </a:r>
          </a:p>
        </p:txBody>
      </p:sp>
      <p:sp>
        <p:nvSpPr>
          <p:cNvPr id="11" name="TextBox 10"/>
          <p:cNvSpPr txBox="1"/>
          <p:nvPr/>
        </p:nvSpPr>
        <p:spPr>
          <a:xfrm>
            <a:off x="822960" y="6473952"/>
            <a:ext cx="10515600" cy="320040"/>
          </a:xfrm>
          <a:prstGeom prst="rect">
            <a:avLst/>
          </a:prstGeom>
          <a:noFill/>
        </p:spPr>
        <p:txBody>
          <a:bodyPr wrap="square">
            <a:spAutoFit/>
          </a:bodyPr>
          <a:lstStyle/>
          <a:p>
            <a:pPr algn="l"/>
            <a:r>
              <a:rPr sz="1000" b="0">
                <a:solidFill>
                  <a:srgbClr val="6B6B6B"/>
                </a:solidFill>
                <a:latin typeface="Inter"/>
              </a:rPr>
              <a:t>/attributions/ · 1000 x 1000 px, transparent · export the right frame as PNG with the same name: attributions.png</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320040"/>
            <a:ext cx="7315200" cy="365760"/>
          </a:xfrm>
          <a:prstGeom prst="rect">
            <a:avLst/>
          </a:prstGeom>
          <a:noFill/>
        </p:spPr>
        <p:txBody>
          <a:bodyPr wrap="square">
            <a:spAutoFit/>
          </a:bodyPr>
          <a:lstStyle/>
          <a:p>
            <a:pPr algn="l"/>
            <a:r>
              <a:rPr sz="1100" b="1">
                <a:solidFill>
                  <a:srgbClr val="845C0F"/>
                </a:solidFill>
                <a:latin typeface="Inter"/>
              </a:rPr>
              <a:t>TEAM</a:t>
            </a:r>
          </a:p>
        </p:txBody>
      </p:sp>
      <p:sp>
        <p:nvSpPr>
          <p:cNvPr id="3" name="TextBox 2"/>
          <p:cNvSpPr txBox="1"/>
          <p:nvPr/>
        </p:nvSpPr>
        <p:spPr>
          <a:xfrm>
            <a:off x="822960" y="566928"/>
            <a:ext cx="7315200" cy="548640"/>
          </a:xfrm>
          <a:prstGeom prst="rect">
            <a:avLst/>
          </a:prstGeom>
          <a:noFill/>
        </p:spPr>
        <p:txBody>
          <a:bodyPr wrap="square">
            <a:spAutoFit/>
          </a:bodyPr>
          <a:lstStyle/>
          <a:p>
            <a:pPr algn="l"/>
            <a:r>
              <a:rPr sz="2600" b="1">
                <a:solidFill>
                  <a:srgbClr val="171717"/>
                </a:solidFill>
                <a:latin typeface="Inter"/>
              </a:rPr>
              <a:t>Milestones</a:t>
            </a:r>
          </a:p>
        </p:txBody>
      </p:sp>
      <p:sp>
        <p:nvSpPr>
          <p:cNvPr id="4" name="Rounded Rectangle 3"/>
          <p:cNvSpPr/>
          <p:nvPr/>
        </p:nvSpPr>
        <p:spPr>
          <a:xfrm>
            <a:off x="822960" y="1234440"/>
            <a:ext cx="4846320" cy="4846320"/>
          </a:xfrm>
          <a:prstGeom prst="roundRect">
            <a:avLst>
              <a:gd name="adj" fmla="val 3000"/>
            </a:avLst>
          </a:prstGeom>
          <a:noFill/>
          <a:ln w="12700">
            <a:solidFill>
              <a:srgbClr val="D4D4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milestones.png"/>
          <p:cNvPicPr>
            <a:picLocks noChangeAspect="1"/>
          </p:cNvPicPr>
          <p:nvPr/>
        </p:nvPicPr>
        <p:blipFill>
          <a:blip r:embed="rId2"/>
          <a:stretch>
            <a:fillRect/>
          </a:stretch>
        </p:blipFill>
        <p:spPr>
          <a:xfrm>
            <a:off x="822960" y="1234440"/>
            <a:ext cx="4846320" cy="4846320"/>
          </a:xfrm>
          <a:prstGeom prst="rect">
            <a:avLst/>
          </a:prstGeom>
        </p:spPr>
      </p:pic>
      <p:sp>
        <p:nvSpPr>
          <p:cNvPr id="6" name="TextBox 5"/>
          <p:cNvSpPr txBox="1"/>
          <p:nvPr/>
        </p:nvSpPr>
        <p:spPr>
          <a:xfrm>
            <a:off x="822960" y="6135624"/>
            <a:ext cx="4846320" cy="274320"/>
          </a:xfrm>
          <a:prstGeom prst="rect">
            <a:avLst/>
          </a:prstGeom>
          <a:noFill/>
        </p:spPr>
        <p:txBody>
          <a:bodyPr wrap="square">
            <a:spAutoFit/>
          </a:bodyPr>
          <a:lstStyle/>
          <a:p>
            <a:pPr algn="ctr"/>
            <a:r>
              <a:rPr sz="1100" b="0">
                <a:solidFill>
                  <a:srgbClr val="6B6B6B"/>
                </a:solidFill>
                <a:latin typeface="Inter"/>
              </a:rPr>
              <a:t>Current drawing · drawn in code, AI-assisted</a:t>
            </a:r>
          </a:p>
        </p:txBody>
      </p:sp>
      <p:cxnSp>
        <p:nvCxnSpPr>
          <p:cNvPr id="7" name="Connector 6"/>
          <p:cNvCxnSpPr/>
          <p:nvPr/>
        </p:nvCxnSpPr>
        <p:spPr>
          <a:xfrm>
            <a:off x="6095847" y="1143000"/>
            <a:ext cx="0" cy="5394960"/>
          </a:xfrm>
          <a:prstGeom prst="line">
            <a:avLst/>
          </a:prstGeom>
          <a:ln w="15875">
            <a:solidFill>
              <a:srgbClr val="D4D4D4"/>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522415" y="1234440"/>
            <a:ext cx="4846320" cy="4846320"/>
          </a:xfrm>
          <a:prstGeom prst="roundRect">
            <a:avLst>
              <a:gd name="adj" fmla="val 3000"/>
            </a:avLst>
          </a:prstGeom>
          <a:noFill/>
          <a:ln w="19050">
            <a:solidFill>
              <a:srgbClr val="D99A1E"/>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 name="Connector 8"/>
          <p:cNvCxnSpPr/>
          <p:nvPr/>
        </p:nvCxnSpPr>
        <p:spPr>
          <a:xfrm>
            <a:off x="6796735" y="5789980"/>
            <a:ext cx="4297680" cy="0"/>
          </a:xfrm>
          <a:prstGeom prst="line">
            <a:avLst/>
          </a:prstGeom>
          <a:ln w="12700">
            <a:solidFill>
              <a:srgbClr val="D99A1E"/>
            </a:solidFill>
            <a:prstDash val="lgDash"/>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522415" y="6135624"/>
            <a:ext cx="4846320" cy="274320"/>
          </a:xfrm>
          <a:prstGeom prst="rect">
            <a:avLst/>
          </a:prstGeom>
          <a:noFill/>
        </p:spPr>
        <p:txBody>
          <a:bodyPr wrap="square">
            <a:spAutoFit/>
          </a:bodyPr>
          <a:lstStyle/>
          <a:p>
            <a:pPr algn="ctr"/>
            <a:r>
              <a:rPr sz="1100" b="0">
                <a:solidFill>
                  <a:srgbClr val="845C0F"/>
                </a:solidFill>
                <a:latin typeface="Inter"/>
              </a:rPr>
              <a:t>Your drawing · same frame, same baseline, no words</a:t>
            </a:r>
          </a:p>
        </p:txBody>
      </p:sp>
      <p:sp>
        <p:nvSpPr>
          <p:cNvPr id="11" name="TextBox 10"/>
          <p:cNvSpPr txBox="1"/>
          <p:nvPr/>
        </p:nvSpPr>
        <p:spPr>
          <a:xfrm>
            <a:off x="822960" y="6473952"/>
            <a:ext cx="10515600" cy="320040"/>
          </a:xfrm>
          <a:prstGeom prst="rect">
            <a:avLst/>
          </a:prstGeom>
          <a:noFill/>
        </p:spPr>
        <p:txBody>
          <a:bodyPr wrap="square">
            <a:spAutoFit/>
          </a:bodyPr>
          <a:lstStyle/>
          <a:p>
            <a:pPr algn="l"/>
            <a:r>
              <a:rPr sz="1000" b="0">
                <a:solidFill>
                  <a:srgbClr val="6B6B6B"/>
                </a:solidFill>
                <a:latin typeface="Inter"/>
              </a:rPr>
              <a:t>/milestones/ · 1000 x 1000 px, transparent · export the right frame as PNG with the same name: milestones.png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